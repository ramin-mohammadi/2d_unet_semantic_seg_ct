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2422f3e2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2422f3e2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2422f3e2f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a2422f3e2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a2422f3e2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a2422f3e2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a2422f3e2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a2422f3e2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a2422f3e2f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a2422f3e2f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a2422f3e2f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a2422f3e2f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2422f3e2f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a2422f3e2f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a2422f3e2f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a2422f3e2f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2422f3e2f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a2422f3e2f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2422f3e2f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2422f3e2f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a2422f3e2f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a2422f3e2f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2422f3e2f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2422f3e2f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a2422f3e2f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a2422f3e2f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2422f3e2f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a2422f3e2f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2422f3e2f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a2422f3e2f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2422f3e2f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2422f3e2f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a2422f3e2f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a2422f3e2f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2422f3e2f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a2422f3e2f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2422f3e2f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a2422f3e2f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2422f3e2f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a2422f3e2f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2422f3e2f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a2422f3e2f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a2422f3e2f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a2422f3e2f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2422f3e2f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a2422f3e2f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a2422f3e2f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a2422f3e2f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a2422f3e2f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a2422f3e2f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a2422f3e2f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a2422f3e2f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a2422f3e2f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a2422f3e2f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a2422f3e2f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a2422f3e2f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a2422f3e2f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a2422f3e2f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a2422f3e2f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a2422f3e2f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a2422f3e2f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a2422f3e2f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a2422f3e2f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a2422f3e2f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a2422f3e2f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a2422f3e2f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a2422f3e2f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a2422f3e2f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a2422f3e2f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a2422f3e2f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a2422f3e2f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a2422f3e2f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a2422f3e2f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a2422f3e2f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a2422f3e2f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a2422f3e2f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a2422f3e2f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a2422f3e2f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a2422f3e2f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a2422f3e2f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a2422f3e2f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a2422f3e2f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a2422f3e2f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a2422f3e2f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a2422f3e2f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a2422f3e2f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kaggle.com/datasets/pkdarabi/brain-tumor-image-dataset-semantic-segmentation/" TargetMode="External"/><Relationship Id="rId4" Type="http://schemas.openxmlformats.org/officeDocument/2006/relationships/hyperlink" Target="https://www.kaggle.com/code/toufikalhajj/brain-tumor-unet-segmentation" TargetMode="External"/><Relationship Id="rId5" Type="http://schemas.openxmlformats.org/officeDocument/2006/relationships/hyperlink" Target="https://arxiv.org/abs/1505.04597"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kaggle.com/datasets/pkdarabi/brain-tumor-image-dataset-semantic-segmentation/" TargetMode="Externa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albumentations.ai/docs/3-basic-usage/choosing-augmentation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explore.albumentations.ai/transform/ElasticTransfor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5.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2.png"/><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9.png"/><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4380"/>
              <a:t>Binary Image Segmentation using UNet on Brain Tumor Dataset </a:t>
            </a:r>
            <a:endParaRPr sz="4380"/>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Ramin Mohammadi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a:t>
            </a:r>
            <a:r>
              <a:rPr lang="en"/>
              <a:t>ataset </a:t>
            </a:r>
            <a:endParaRPr/>
          </a:p>
          <a:p>
            <a:pPr indent="-317500" lvl="1" marL="914400" rtl="0" algn="l">
              <a:spcBef>
                <a:spcPts val="0"/>
              </a:spcBef>
              <a:spcAft>
                <a:spcPts val="0"/>
              </a:spcAft>
              <a:buSzPts val="1400"/>
              <a:buChar char="-"/>
            </a:pPr>
            <a:r>
              <a:rPr lang="en" u="sng">
                <a:solidFill>
                  <a:schemeClr val="hlink"/>
                </a:solidFill>
                <a:hlinkClick r:id="rId3"/>
              </a:rPr>
              <a:t>https://www.kaggle.com/datasets/pkdarabi/brain-tumor-image-dataset-semantic-segmentation/</a:t>
            </a:r>
            <a:endParaRPr/>
          </a:p>
          <a:p>
            <a:pPr indent="-342900" lvl="0" marL="457200" rtl="0" algn="l">
              <a:spcBef>
                <a:spcPts val="0"/>
              </a:spcBef>
              <a:spcAft>
                <a:spcPts val="0"/>
              </a:spcAft>
              <a:buSzPts val="1800"/>
              <a:buChar char="-"/>
            </a:pPr>
            <a:r>
              <a:rPr lang="en"/>
              <a:t>Tutorial</a:t>
            </a:r>
            <a:endParaRPr/>
          </a:p>
          <a:p>
            <a:pPr indent="-317500" lvl="1" marL="914400" rtl="0" algn="l">
              <a:spcBef>
                <a:spcPts val="0"/>
              </a:spcBef>
              <a:spcAft>
                <a:spcPts val="0"/>
              </a:spcAft>
              <a:buSzPts val="1400"/>
              <a:buChar char="-"/>
            </a:pPr>
            <a:r>
              <a:rPr lang="en" u="sng">
                <a:solidFill>
                  <a:schemeClr val="hlink"/>
                </a:solidFill>
                <a:hlinkClick r:id="rId4"/>
              </a:rPr>
              <a:t>https://www.kaggle.com/code/toufikalhajj/brain-tumor-unet-segmentation</a:t>
            </a:r>
            <a:r>
              <a:rPr lang="en"/>
              <a:t> </a:t>
            </a:r>
            <a:endParaRPr/>
          </a:p>
          <a:p>
            <a:pPr indent="-317500" lvl="1" marL="914400" rtl="0" algn="l">
              <a:spcBef>
                <a:spcPts val="0"/>
              </a:spcBef>
              <a:spcAft>
                <a:spcPts val="0"/>
              </a:spcAft>
              <a:buSzPts val="1400"/>
              <a:buChar char="-"/>
            </a:pPr>
            <a:r>
              <a:rPr b="1" lang="en"/>
              <a:t>NOTE, in addition to following above tutorial, </a:t>
            </a:r>
            <a:endParaRPr b="1"/>
          </a:p>
          <a:p>
            <a:pPr indent="-317500" lvl="2" marL="1371600" rtl="0" algn="l">
              <a:spcBef>
                <a:spcPts val="0"/>
              </a:spcBef>
              <a:spcAft>
                <a:spcPts val="0"/>
              </a:spcAft>
              <a:buSzPts val="1400"/>
              <a:buChar char="-"/>
            </a:pPr>
            <a:r>
              <a:rPr b="1" lang="en"/>
              <a:t>I verified that the TensorFlow model </a:t>
            </a:r>
            <a:r>
              <a:rPr b="1" lang="en"/>
              <a:t>followed</a:t>
            </a:r>
            <a:r>
              <a:rPr b="1" lang="en"/>
              <a:t> the UNet architecture correctly by reading and analyzing </a:t>
            </a:r>
            <a:r>
              <a:rPr b="1" lang="en"/>
              <a:t>the UNet paper</a:t>
            </a:r>
            <a:endParaRPr b="1"/>
          </a:p>
          <a:p>
            <a:pPr indent="-317500" lvl="2" marL="1371600" rtl="0" algn="l">
              <a:spcBef>
                <a:spcPts val="0"/>
              </a:spcBef>
              <a:spcAft>
                <a:spcPts val="0"/>
              </a:spcAft>
              <a:buSzPts val="1400"/>
              <a:buChar char="-"/>
            </a:pPr>
            <a:r>
              <a:rPr b="1" lang="en"/>
              <a:t>and I added a dropout layer to the last downsampling block and added one more data augmentation (albumentations.ElasticTransform()) leading to improved IoU (Intersection over Union) and DSC (Dice Similarity Coefficient) scores</a:t>
            </a:r>
            <a:endParaRPr b="1"/>
          </a:p>
          <a:p>
            <a:pPr indent="-342900" lvl="0" marL="457200" rtl="0" algn="l">
              <a:spcBef>
                <a:spcPts val="0"/>
              </a:spcBef>
              <a:spcAft>
                <a:spcPts val="0"/>
              </a:spcAft>
              <a:buSzPts val="1800"/>
              <a:buChar char="-"/>
            </a:pPr>
            <a:r>
              <a:rPr lang="en"/>
              <a:t>UNet Paper</a:t>
            </a:r>
            <a:endParaRPr/>
          </a:p>
          <a:p>
            <a:pPr indent="-317500" lvl="1" marL="914400" rtl="0" algn="l">
              <a:spcBef>
                <a:spcPts val="0"/>
              </a:spcBef>
              <a:spcAft>
                <a:spcPts val="0"/>
              </a:spcAft>
              <a:buSzPts val="1400"/>
              <a:buChar char="-"/>
            </a:pPr>
            <a:r>
              <a:rPr lang="en" u="sng">
                <a:solidFill>
                  <a:schemeClr val="hlink"/>
                </a:solidFill>
                <a:hlinkClick r:id="rId5"/>
              </a:rPr>
              <a:t>https://arxiv.org/abs/1505.04597</a:t>
            </a:r>
            <a:r>
              <a:rPr lang="en"/>
              <a: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Image Segmentation?</a:t>
            </a:r>
            <a:endParaRPr/>
          </a:p>
        </p:txBody>
      </p:sp>
      <p:sp>
        <p:nvSpPr>
          <p:cNvPr id="67" name="Google Shape;67;p15"/>
          <p:cNvSpPr txBox="1"/>
          <p:nvPr>
            <p:ph idx="1" type="body"/>
          </p:nvPr>
        </p:nvSpPr>
        <p:spPr>
          <a:xfrm>
            <a:off x="311700" y="3359825"/>
            <a:ext cx="8520600" cy="11268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a:t>Rather just performing image </a:t>
            </a:r>
            <a:r>
              <a:rPr lang="en"/>
              <a:t>classification</a:t>
            </a:r>
            <a:r>
              <a:rPr lang="en"/>
              <a:t> (predicting a label for an entire set of pixels -&gt;  image), you can have a model predict a label to EACH pixel in an image</a:t>
            </a:r>
            <a:endParaRPr/>
          </a:p>
          <a:p>
            <a:pPr indent="-325755" lvl="0" marL="457200" rtl="0" algn="l">
              <a:spcBef>
                <a:spcPts val="0"/>
              </a:spcBef>
              <a:spcAft>
                <a:spcPts val="0"/>
              </a:spcAft>
              <a:buSzPct val="100000"/>
              <a:buChar char="-"/>
            </a:pPr>
            <a:r>
              <a:rPr lang="en"/>
              <a:t>Visually, the predicted labels per pixel can segment different objects/entities in an image </a:t>
            </a:r>
            <a:r>
              <a:rPr lang="en"/>
              <a:t>whether</a:t>
            </a:r>
            <a:r>
              <a:rPr lang="en"/>
              <a:t> it be a car or a cancer tumor</a:t>
            </a:r>
            <a:endParaRPr/>
          </a:p>
        </p:txBody>
      </p:sp>
      <p:pic>
        <p:nvPicPr>
          <p:cNvPr id="68" name="Google Shape;68;p15"/>
          <p:cNvPicPr preferRelativeResize="0"/>
          <p:nvPr/>
        </p:nvPicPr>
        <p:blipFill>
          <a:blip r:embed="rId3">
            <a:alphaModFix/>
          </a:blip>
          <a:stretch>
            <a:fillRect/>
          </a:stretch>
        </p:blipFill>
        <p:spPr>
          <a:xfrm>
            <a:off x="923012" y="1017724"/>
            <a:ext cx="7297975" cy="21014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Brain Tumor Dataset</a:t>
            </a:r>
            <a:endParaRPr/>
          </a:p>
        </p:txBody>
      </p:sp>
      <p:sp>
        <p:nvSpPr>
          <p:cNvPr id="74" name="Google Shape;74;p16"/>
          <p:cNvSpPr txBox="1"/>
          <p:nvPr>
            <p:ph idx="1" type="body"/>
          </p:nvPr>
        </p:nvSpPr>
        <p:spPr>
          <a:xfrm>
            <a:off x="311700" y="3445450"/>
            <a:ext cx="8520600" cy="1605600"/>
          </a:xfrm>
          <a:prstGeom prst="rect">
            <a:avLst/>
          </a:prstGeom>
        </p:spPr>
        <p:txBody>
          <a:bodyPr anchorCtr="0" anchor="t" bIns="91425" lIns="91425" spcFirstLastPara="1" rIns="91425" wrap="square" tIns="91425">
            <a:noAutofit/>
          </a:bodyPr>
          <a:lstStyle/>
          <a:p>
            <a:pPr indent="-293370" lvl="0" marL="457200" rtl="0" algn="l">
              <a:lnSpc>
                <a:spcPct val="95000"/>
              </a:lnSpc>
              <a:spcBef>
                <a:spcPts val="0"/>
              </a:spcBef>
              <a:spcAft>
                <a:spcPts val="0"/>
              </a:spcAft>
              <a:buSzPts val="1020"/>
              <a:buChar char="-"/>
            </a:pPr>
            <a:r>
              <a:rPr lang="en" sz="1020" u="sng">
                <a:solidFill>
                  <a:schemeClr val="accent5"/>
                </a:solidFill>
                <a:hlinkClick r:id="rId3">
                  <a:extLst>
                    <a:ext uri="{A12FA001-AC4F-418D-AE19-62706E023703}">
                      <ahyp:hlinkClr val="tx"/>
                    </a:ext>
                  </a:extLst>
                </a:hlinkClick>
              </a:rPr>
              <a:t>https://www.kaggle.com/datasets/pkdarabi/brain-tumor-image-dataset-semantic-segmentation/</a:t>
            </a:r>
            <a:r>
              <a:rPr lang="en" sz="1020"/>
              <a:t> </a:t>
            </a:r>
            <a:endParaRPr sz="1020"/>
          </a:p>
          <a:p>
            <a:pPr indent="-293370" lvl="0" marL="457200" rtl="0" algn="l">
              <a:lnSpc>
                <a:spcPct val="95000"/>
              </a:lnSpc>
              <a:spcBef>
                <a:spcPts val="0"/>
              </a:spcBef>
              <a:spcAft>
                <a:spcPts val="0"/>
              </a:spcAft>
              <a:buSzPts val="1020"/>
              <a:buChar char="-"/>
            </a:pPr>
            <a:r>
              <a:rPr lang="en" sz="1020"/>
              <a:t>Labels</a:t>
            </a:r>
            <a:endParaRPr sz="1020"/>
          </a:p>
          <a:p>
            <a:pPr indent="-283210" lvl="1" marL="914400" rtl="0" algn="l">
              <a:lnSpc>
                <a:spcPct val="95000"/>
              </a:lnSpc>
              <a:spcBef>
                <a:spcPts val="0"/>
              </a:spcBef>
              <a:spcAft>
                <a:spcPts val="0"/>
              </a:spcAft>
              <a:buSzPts val="860"/>
              <a:buChar char="-"/>
            </a:pPr>
            <a:r>
              <a:rPr lang="en" sz="860"/>
              <a:t>Tumor: 1</a:t>
            </a:r>
            <a:endParaRPr sz="860"/>
          </a:p>
          <a:p>
            <a:pPr indent="-283210" lvl="1" marL="914400" rtl="0" algn="l">
              <a:lnSpc>
                <a:spcPct val="95000"/>
              </a:lnSpc>
              <a:spcBef>
                <a:spcPts val="0"/>
              </a:spcBef>
              <a:spcAft>
                <a:spcPts val="0"/>
              </a:spcAft>
              <a:buSzPts val="860"/>
              <a:buChar char="-"/>
            </a:pPr>
            <a:r>
              <a:rPr lang="en" sz="860"/>
              <a:t>No Tumor: 0</a:t>
            </a:r>
            <a:endParaRPr sz="860"/>
          </a:p>
          <a:p>
            <a:pPr indent="-293370" lvl="0" marL="457200" rtl="0" algn="l">
              <a:lnSpc>
                <a:spcPct val="95000"/>
              </a:lnSpc>
              <a:spcBef>
                <a:spcPts val="0"/>
              </a:spcBef>
              <a:spcAft>
                <a:spcPts val="0"/>
              </a:spcAft>
              <a:buSzPts val="1020"/>
              <a:buChar char="-"/>
            </a:pPr>
            <a:r>
              <a:rPr lang="en" sz="1020"/>
              <a:t>Here we only have 2 labels so dealing with a binary image segmentation task</a:t>
            </a:r>
            <a:endParaRPr sz="1020"/>
          </a:p>
          <a:p>
            <a:pPr indent="-293370" lvl="0" marL="457200" rtl="0" algn="l">
              <a:lnSpc>
                <a:spcPct val="95000"/>
              </a:lnSpc>
              <a:spcBef>
                <a:spcPts val="0"/>
              </a:spcBef>
              <a:spcAft>
                <a:spcPts val="0"/>
              </a:spcAft>
              <a:buSzPts val="1020"/>
              <a:buChar char="-"/>
            </a:pPr>
            <a:r>
              <a:rPr lang="en" sz="1020"/>
              <a:t>Image Shape: (width, height, channel) = (640, 640, 3)</a:t>
            </a:r>
            <a:endParaRPr sz="1020"/>
          </a:p>
          <a:p>
            <a:pPr indent="-293370" lvl="0" marL="457200" rtl="0" algn="l">
              <a:lnSpc>
                <a:spcPct val="95000"/>
              </a:lnSpc>
              <a:spcBef>
                <a:spcPts val="0"/>
              </a:spcBef>
              <a:spcAft>
                <a:spcPts val="0"/>
              </a:spcAft>
              <a:buSzPts val="1020"/>
              <a:buChar char="-"/>
            </a:pPr>
            <a:r>
              <a:rPr lang="en" sz="1020"/>
              <a:t>Mask Shape: (width, height) = (640, 640)</a:t>
            </a:r>
            <a:endParaRPr sz="1020"/>
          </a:p>
          <a:p>
            <a:pPr indent="-293370" lvl="0" marL="457200" rtl="0" algn="l">
              <a:lnSpc>
                <a:spcPct val="95000"/>
              </a:lnSpc>
              <a:spcBef>
                <a:spcPts val="0"/>
              </a:spcBef>
              <a:spcAft>
                <a:spcPts val="0"/>
              </a:spcAft>
              <a:buSzPts val="1020"/>
              <a:buChar char="-"/>
            </a:pPr>
            <a:r>
              <a:rPr lang="en" sz="1020"/>
              <a:t>For right image, the “mask” is the ground truth image segmentation where white are pixels that represent the tumor and black are non-tumor regions</a:t>
            </a:r>
            <a:endParaRPr sz="1020"/>
          </a:p>
        </p:txBody>
      </p:sp>
      <p:pic>
        <p:nvPicPr>
          <p:cNvPr id="75" name="Google Shape;75;p16"/>
          <p:cNvPicPr preferRelativeResize="0"/>
          <p:nvPr/>
        </p:nvPicPr>
        <p:blipFill>
          <a:blip r:embed="rId4">
            <a:alphaModFix/>
          </a:blip>
          <a:stretch>
            <a:fillRect/>
          </a:stretch>
        </p:blipFill>
        <p:spPr>
          <a:xfrm>
            <a:off x="1871725" y="842800"/>
            <a:ext cx="5689201" cy="2424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UNet</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2" name="Google Shape;82;p17"/>
          <p:cNvPicPr preferRelativeResize="0"/>
          <p:nvPr/>
        </p:nvPicPr>
        <p:blipFill>
          <a:blip r:embed="rId3">
            <a:alphaModFix/>
          </a:blip>
          <a:stretch>
            <a:fillRect/>
          </a:stretch>
        </p:blipFill>
        <p:spPr>
          <a:xfrm>
            <a:off x="1375800" y="1152475"/>
            <a:ext cx="6543924" cy="3771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UNet</a:t>
            </a:r>
            <a:endParaRPr/>
          </a:p>
        </p:txBody>
      </p:sp>
      <p:sp>
        <p:nvSpPr>
          <p:cNvPr id="88" name="Google Shape;8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9" name="Google Shape;89;p18"/>
          <p:cNvPicPr preferRelativeResize="0"/>
          <p:nvPr/>
        </p:nvPicPr>
        <p:blipFill>
          <a:blip r:embed="rId3">
            <a:alphaModFix/>
          </a:blip>
          <a:stretch>
            <a:fillRect/>
          </a:stretch>
        </p:blipFill>
        <p:spPr>
          <a:xfrm>
            <a:off x="802825" y="1210774"/>
            <a:ext cx="7538351" cy="3082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UNet</a:t>
            </a:r>
            <a:endParaRPr/>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Unet downsampling / "contracting path" block, (below from Unet paper)</a:t>
            </a:r>
            <a:endParaRPr/>
          </a:p>
          <a:p>
            <a:pPr indent="0" lvl="0" marL="0" rtl="0" algn="l">
              <a:spcBef>
                <a:spcPts val="1200"/>
              </a:spcBef>
              <a:spcAft>
                <a:spcPts val="0"/>
              </a:spcAft>
              <a:buNone/>
            </a:pPr>
            <a:r>
              <a:rPr lang="en"/>
              <a:t>    - "The contracting path follows the typical architecture of a convolutional</a:t>
            </a:r>
            <a:endParaRPr/>
          </a:p>
          <a:p>
            <a:pPr indent="0" lvl="0" marL="0" rtl="0" algn="l">
              <a:spcBef>
                <a:spcPts val="1200"/>
              </a:spcBef>
              <a:spcAft>
                <a:spcPts val="0"/>
              </a:spcAft>
              <a:buNone/>
            </a:pPr>
            <a:r>
              <a:rPr lang="en"/>
              <a:t>      network. It consists of the repeated application of</a:t>
            </a:r>
            <a:endParaRPr/>
          </a:p>
          <a:p>
            <a:pPr indent="0" lvl="0" marL="0" rtl="0" algn="l">
              <a:spcBef>
                <a:spcPts val="1200"/>
              </a:spcBef>
              <a:spcAft>
                <a:spcPts val="0"/>
              </a:spcAft>
              <a:buNone/>
            </a:pPr>
            <a:r>
              <a:rPr lang="en"/>
              <a:t>        - two 3x3 convolutions (unpadded convolutions),</a:t>
            </a:r>
            <a:endParaRPr/>
          </a:p>
          <a:p>
            <a:pPr indent="0" lvl="0" marL="0" rtl="0" algn="l">
              <a:spcBef>
                <a:spcPts val="1200"/>
              </a:spcBef>
              <a:spcAft>
                <a:spcPts val="0"/>
              </a:spcAft>
              <a:buNone/>
            </a:pPr>
            <a:r>
              <a:rPr lang="en"/>
              <a:t>        each followed by a rectified linear unit (ReLU)</a:t>
            </a:r>
            <a:endParaRPr/>
          </a:p>
          <a:p>
            <a:pPr indent="0" lvl="0" marL="0" rtl="0" algn="l">
              <a:spcBef>
                <a:spcPts val="1200"/>
              </a:spcBef>
              <a:spcAft>
                <a:spcPts val="0"/>
              </a:spcAft>
              <a:buNone/>
            </a:pPr>
            <a:r>
              <a:rPr lang="en"/>
              <a:t>        - and a 2x2 max pooling operation with stride 2 for downsampling.</a:t>
            </a:r>
            <a:endParaRPr/>
          </a:p>
          <a:p>
            <a:pPr indent="0" lvl="0" marL="0" rtl="0" algn="l">
              <a:spcBef>
                <a:spcPts val="1200"/>
              </a:spcBef>
              <a:spcAft>
                <a:spcPts val="0"/>
              </a:spcAft>
              <a:buNone/>
            </a:pPr>
            <a:r>
              <a:rPr lang="en"/>
              <a:t>        - At each downsampling step we double the number of feature channels"</a:t>
            </a:r>
            <a:endParaRPr/>
          </a:p>
          <a:p>
            <a:pPr indent="0" lvl="0" marL="0" rtl="0" algn="l">
              <a:spcBef>
                <a:spcPts val="1200"/>
              </a:spcBef>
              <a:spcAft>
                <a:spcPts val="1200"/>
              </a:spcAft>
              <a:buNone/>
            </a:pPr>
            <a:r>
              <a:rPr lang="en"/>
              <a:t>    - Unet paper uses 4 downsampling blocks with first block starting with out_features=64</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UNet</a:t>
            </a:r>
            <a:endParaRPr/>
          </a:p>
        </p:txBody>
      </p:sp>
      <p:sp>
        <p:nvSpPr>
          <p:cNvPr id="101" name="Google Shape;101;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“BottleNeck”</a:t>
            </a:r>
            <a:endParaRPr/>
          </a:p>
          <a:p>
            <a:pPr indent="-342900" lvl="0" marL="457200" rtl="0" algn="l">
              <a:spcBef>
                <a:spcPts val="1200"/>
              </a:spcBef>
              <a:spcAft>
                <a:spcPts val="0"/>
              </a:spcAft>
              <a:buSzPts val="1800"/>
              <a:buChar char="-"/>
            </a:pPr>
            <a:r>
              <a:rPr lang="en"/>
              <a:t>Between downsampling and upsampling, unet paper has 2 sets of 3x3 conv - Relu pairs where the first </a:t>
            </a:r>
            <a:r>
              <a:rPr lang="en"/>
              <a:t>convolution</a:t>
            </a:r>
            <a:r>
              <a:rPr lang="en"/>
              <a:t> layer doubles the out_features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UNet</a:t>
            </a:r>
            <a:endParaRPr/>
          </a:p>
        </p:txBody>
      </p:sp>
      <p:sp>
        <p:nvSpPr>
          <p:cNvPr id="107" name="Google Shape;107;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770"/>
              <a:buNone/>
            </a:pPr>
            <a:r>
              <a:rPr lang="en" sz="1260"/>
              <a:t>Every step in the expansive path consists of an upsampling of the feature map followed by a: (below is one upsampling block)</a:t>
            </a:r>
            <a:endParaRPr sz="1260"/>
          </a:p>
          <a:p>
            <a:pPr indent="0" lvl="0" marL="0" rtl="0" algn="l">
              <a:lnSpc>
                <a:spcPct val="95000"/>
              </a:lnSpc>
              <a:spcBef>
                <a:spcPts val="1200"/>
              </a:spcBef>
              <a:spcAft>
                <a:spcPts val="0"/>
              </a:spcAft>
              <a:buSzPts val="770"/>
              <a:buNone/>
            </a:pPr>
            <a:r>
              <a:rPr lang="en" sz="1260"/>
              <a:t>    - 2x2 convolution ( up-convolution ) that halves the number of feature channels,</a:t>
            </a:r>
            <a:endParaRPr sz="1260"/>
          </a:p>
          <a:p>
            <a:pPr indent="0" lvl="0" marL="0" rtl="0" algn="l">
              <a:lnSpc>
                <a:spcPct val="95000"/>
              </a:lnSpc>
              <a:spcBef>
                <a:spcPts val="1200"/>
              </a:spcBef>
              <a:spcAft>
                <a:spcPts val="0"/>
              </a:spcAft>
              <a:buSzPts val="770"/>
              <a:buNone/>
            </a:pPr>
            <a:r>
              <a:rPr lang="en" sz="1260"/>
              <a:t>    - a concatenation with the correspondingly cropped feature map from the contracting path (downsampling),</a:t>
            </a:r>
            <a:endParaRPr sz="1260"/>
          </a:p>
          <a:p>
            <a:pPr indent="0" lvl="0" marL="0" rtl="0" algn="l">
              <a:lnSpc>
                <a:spcPct val="95000"/>
              </a:lnSpc>
              <a:spcBef>
                <a:spcPts val="1200"/>
              </a:spcBef>
              <a:spcAft>
                <a:spcPts val="0"/>
              </a:spcAft>
              <a:buSzPts val="770"/>
              <a:buNone/>
            </a:pPr>
            <a:r>
              <a:rPr lang="en" sz="1260"/>
              <a:t>    - and two 3x3 convolutions, each followed by a ReLU.</a:t>
            </a:r>
            <a:endParaRPr sz="1260"/>
          </a:p>
          <a:p>
            <a:pPr indent="0" lvl="0" marL="0" rtl="0" algn="l">
              <a:lnSpc>
                <a:spcPct val="95000"/>
              </a:lnSpc>
              <a:spcBef>
                <a:spcPts val="1200"/>
              </a:spcBef>
              <a:spcAft>
                <a:spcPts val="0"/>
              </a:spcAft>
              <a:buSzPts val="770"/>
              <a:buNone/>
            </a:pPr>
            <a:r>
              <a:rPr lang="en" sz="1260"/>
              <a:t>    The cropping is necessary due to the loss of border pixels in every convolution.</a:t>
            </a:r>
            <a:endParaRPr sz="1260"/>
          </a:p>
          <a:p>
            <a:pPr indent="0" lvl="0" marL="0" rtl="0" algn="l">
              <a:lnSpc>
                <a:spcPct val="95000"/>
              </a:lnSpc>
              <a:spcBef>
                <a:spcPts val="1200"/>
              </a:spcBef>
              <a:spcAft>
                <a:spcPts val="0"/>
              </a:spcAft>
              <a:buSzPts val="770"/>
              <a:buNone/>
            </a:pPr>
            <a:r>
              <a:t/>
            </a:r>
            <a:endParaRPr sz="1260"/>
          </a:p>
          <a:p>
            <a:pPr indent="0" lvl="0" marL="0" rtl="0" algn="l">
              <a:lnSpc>
                <a:spcPct val="95000"/>
              </a:lnSpc>
              <a:spcBef>
                <a:spcPts val="1200"/>
              </a:spcBef>
              <a:spcAft>
                <a:spcPts val="0"/>
              </a:spcAft>
              <a:buSzPts val="770"/>
              <a:buNone/>
            </a:pPr>
            <a:r>
              <a:rPr lang="en" sz="1260"/>
              <a:t>    (4 upsampling blocks)</a:t>
            </a:r>
            <a:endParaRPr sz="1260"/>
          </a:p>
          <a:p>
            <a:pPr indent="0" lvl="0" marL="0" rtl="0" algn="l">
              <a:lnSpc>
                <a:spcPct val="95000"/>
              </a:lnSpc>
              <a:spcBef>
                <a:spcPts val="1200"/>
              </a:spcBef>
              <a:spcAft>
                <a:spcPts val="0"/>
              </a:spcAft>
              <a:buSzPts val="770"/>
              <a:buNone/>
            </a:pPr>
            <a:r>
              <a:t/>
            </a:r>
            <a:endParaRPr sz="1260"/>
          </a:p>
          <a:p>
            <a:pPr indent="0" lvl="0" marL="0" rtl="0" algn="l">
              <a:lnSpc>
                <a:spcPct val="95000"/>
              </a:lnSpc>
              <a:spcBef>
                <a:spcPts val="1200"/>
              </a:spcBef>
              <a:spcAft>
                <a:spcPts val="1200"/>
              </a:spcAft>
              <a:buSzPts val="770"/>
              <a:buNone/>
            </a:pPr>
            <a:r>
              <a:rPr lang="en" sz="1260"/>
              <a:t>    - At the final layer a 1x1 convolution is used to map each 64 component feature vector to the desired number of classes.</a:t>
            </a:r>
            <a:endParaRPr sz="126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UNet</a:t>
            </a:r>
            <a:endParaRPr/>
          </a:p>
        </p:txBody>
      </p:sp>
      <p:sp>
        <p:nvSpPr>
          <p:cNvPr id="113" name="Google Shape;113;p22"/>
          <p:cNvSpPr txBox="1"/>
          <p:nvPr>
            <p:ph idx="1" type="body"/>
          </p:nvPr>
        </p:nvSpPr>
        <p:spPr>
          <a:xfrm>
            <a:off x="311700" y="1152475"/>
            <a:ext cx="8520600" cy="3728700"/>
          </a:xfrm>
          <a:prstGeom prst="rect">
            <a:avLst/>
          </a:prstGeom>
        </p:spPr>
        <p:txBody>
          <a:bodyPr anchorCtr="0" anchor="t" bIns="91425" lIns="91425" spcFirstLastPara="1" rIns="91425" wrap="square" tIns="91425">
            <a:normAutofit fontScale="25000" lnSpcReduction="20000"/>
          </a:bodyPr>
          <a:lstStyle/>
          <a:p>
            <a:pPr indent="0" lvl="0" marL="0" rtl="0" algn="l">
              <a:lnSpc>
                <a:spcPct val="135714"/>
              </a:lnSpc>
              <a:spcBef>
                <a:spcPts val="0"/>
              </a:spcBef>
              <a:spcAft>
                <a:spcPts val="0"/>
              </a:spcAft>
              <a:buClr>
                <a:schemeClr val="dk1"/>
              </a:buClr>
              <a:buSzPct val="29991"/>
              <a:buFont typeface="Arial"/>
              <a:buNone/>
            </a:pPr>
            <a:r>
              <a:rPr b="1" lang="en" sz="3668">
                <a:solidFill>
                  <a:srgbClr val="434343"/>
                </a:solidFill>
                <a:highlight>
                  <a:srgbClr val="FFFFFF"/>
                </a:highlight>
              </a:rPr>
              <a:t> 1x1 conv</a:t>
            </a:r>
            <a:endParaRPr b="1" sz="3668">
              <a:solidFill>
                <a:srgbClr val="434343"/>
              </a:solidFill>
              <a:highlight>
                <a:srgbClr val="FFFFFF"/>
              </a:highlight>
            </a:endParaRPr>
          </a:p>
          <a:p>
            <a:pPr indent="0" lvl="0" marL="0" rtl="0" algn="l">
              <a:lnSpc>
                <a:spcPct val="135714"/>
              </a:lnSpc>
              <a:spcBef>
                <a:spcPts val="0"/>
              </a:spcBef>
              <a:spcAft>
                <a:spcPts val="0"/>
              </a:spcAft>
              <a:buClr>
                <a:schemeClr val="dk1"/>
              </a:buClr>
              <a:buSzPct val="29991"/>
              <a:buFont typeface="Arial"/>
              <a:buNone/>
            </a:pPr>
            <a:r>
              <a:t/>
            </a:r>
            <a:endParaRPr sz="3668">
              <a:solidFill>
                <a:srgbClr val="434343"/>
              </a:solidFill>
              <a:highlight>
                <a:srgbClr val="FFFFFF"/>
              </a:highlight>
            </a:endParaRPr>
          </a:p>
          <a:p>
            <a:pPr indent="0" lvl="0" marL="0" rtl="0" algn="l">
              <a:lnSpc>
                <a:spcPct val="135714"/>
              </a:lnSpc>
              <a:spcBef>
                <a:spcPts val="0"/>
              </a:spcBef>
              <a:spcAft>
                <a:spcPts val="0"/>
              </a:spcAft>
              <a:buClr>
                <a:schemeClr val="dk1"/>
              </a:buClr>
              <a:buSzPct val="29991"/>
              <a:buFont typeface="Arial"/>
              <a:buNone/>
            </a:pPr>
            <a:r>
              <a:rPr lang="en" sz="3668">
                <a:solidFill>
                  <a:srgbClr val="434343"/>
                </a:solidFill>
                <a:highlight>
                  <a:srgbClr val="FFFFFF"/>
                </a:highlight>
              </a:rPr>
              <a:t>    Note differences between binary segmentation (this problem is binary segmentation) or multiclass segmentation</a:t>
            </a:r>
            <a:endParaRPr sz="3668">
              <a:solidFill>
                <a:srgbClr val="434343"/>
              </a:solidFill>
              <a:highlight>
                <a:srgbClr val="FFFFFF"/>
              </a:highlight>
            </a:endParaRPr>
          </a:p>
          <a:p>
            <a:pPr indent="0" lvl="0" marL="0" rtl="0" algn="l">
              <a:lnSpc>
                <a:spcPct val="135714"/>
              </a:lnSpc>
              <a:spcBef>
                <a:spcPts val="0"/>
              </a:spcBef>
              <a:spcAft>
                <a:spcPts val="0"/>
              </a:spcAft>
              <a:buClr>
                <a:schemeClr val="dk1"/>
              </a:buClr>
              <a:buSzPct val="29991"/>
              <a:buFont typeface="Arial"/>
              <a:buNone/>
            </a:pPr>
            <a:r>
              <a:t/>
            </a:r>
            <a:endParaRPr sz="3668">
              <a:solidFill>
                <a:srgbClr val="434343"/>
              </a:solidFill>
              <a:highlight>
                <a:srgbClr val="FFFFFF"/>
              </a:highlight>
            </a:endParaRPr>
          </a:p>
          <a:p>
            <a:pPr indent="0" lvl="0" marL="0" rtl="0" algn="l">
              <a:lnSpc>
                <a:spcPct val="135714"/>
              </a:lnSpc>
              <a:spcBef>
                <a:spcPts val="0"/>
              </a:spcBef>
              <a:spcAft>
                <a:spcPts val="0"/>
              </a:spcAft>
              <a:buClr>
                <a:schemeClr val="dk1"/>
              </a:buClr>
              <a:buSzPct val="29991"/>
              <a:buFont typeface="Arial"/>
              <a:buNone/>
            </a:pPr>
            <a:r>
              <a:rPr lang="en" sz="3668">
                <a:solidFill>
                  <a:srgbClr val="434343"/>
                </a:solidFill>
                <a:highlight>
                  <a:srgbClr val="FFFFFF"/>
                </a:highlight>
              </a:rPr>
              <a:t>    2 labels:</a:t>
            </a:r>
            <a:endParaRPr sz="3668">
              <a:solidFill>
                <a:srgbClr val="434343"/>
              </a:solidFill>
              <a:highlight>
                <a:srgbClr val="FFFFFF"/>
              </a:highlight>
            </a:endParaRPr>
          </a:p>
          <a:p>
            <a:pPr indent="0" lvl="0" marL="0" rtl="0" algn="l">
              <a:lnSpc>
                <a:spcPct val="135714"/>
              </a:lnSpc>
              <a:spcBef>
                <a:spcPts val="0"/>
              </a:spcBef>
              <a:spcAft>
                <a:spcPts val="0"/>
              </a:spcAft>
              <a:buClr>
                <a:schemeClr val="dk1"/>
              </a:buClr>
              <a:buSzPct val="29991"/>
              <a:buFont typeface="Arial"/>
              <a:buNone/>
            </a:pPr>
            <a:r>
              <a:rPr lang="en" sz="3668">
                <a:solidFill>
                  <a:srgbClr val="434343"/>
                </a:solidFill>
                <a:highlight>
                  <a:srgbClr val="FFFFFF"/>
                </a:highlight>
              </a:rPr>
              <a:t>    (non_tumor: 0, tumor: 1)</a:t>
            </a:r>
            <a:endParaRPr sz="3668">
              <a:solidFill>
                <a:srgbClr val="434343"/>
              </a:solidFill>
              <a:highlight>
                <a:srgbClr val="FFFFFF"/>
              </a:highlight>
            </a:endParaRPr>
          </a:p>
          <a:p>
            <a:pPr indent="0" lvl="0" marL="0" rtl="0" algn="l">
              <a:lnSpc>
                <a:spcPct val="135714"/>
              </a:lnSpc>
              <a:spcBef>
                <a:spcPts val="0"/>
              </a:spcBef>
              <a:spcAft>
                <a:spcPts val="0"/>
              </a:spcAft>
              <a:buClr>
                <a:schemeClr val="dk1"/>
              </a:buClr>
              <a:buSzPct val="29991"/>
              <a:buFont typeface="Arial"/>
              <a:buNone/>
            </a:pPr>
            <a:r>
              <a:t/>
            </a:r>
            <a:endParaRPr sz="3668">
              <a:solidFill>
                <a:srgbClr val="434343"/>
              </a:solidFill>
              <a:highlight>
                <a:srgbClr val="FFFFFF"/>
              </a:highlight>
            </a:endParaRPr>
          </a:p>
          <a:p>
            <a:pPr indent="0" lvl="0" marL="0" rtl="0" algn="l">
              <a:lnSpc>
                <a:spcPct val="135714"/>
              </a:lnSpc>
              <a:spcBef>
                <a:spcPts val="0"/>
              </a:spcBef>
              <a:spcAft>
                <a:spcPts val="0"/>
              </a:spcAft>
              <a:buClr>
                <a:schemeClr val="dk1"/>
              </a:buClr>
              <a:buSzPct val="29991"/>
              <a:buFont typeface="Arial"/>
              <a:buNone/>
            </a:pPr>
            <a:r>
              <a:rPr lang="en" sz="3668">
                <a:solidFill>
                  <a:srgbClr val="434343"/>
                </a:solidFill>
                <a:highlight>
                  <a:srgbClr val="FFFFFF"/>
                </a:highlight>
              </a:rPr>
              <a:t>    For </a:t>
            </a:r>
            <a:r>
              <a:rPr b="1" lang="en" sz="3668">
                <a:solidFill>
                  <a:srgbClr val="434343"/>
                </a:solidFill>
                <a:highlight>
                  <a:srgbClr val="FFFFFF"/>
                </a:highlight>
              </a:rPr>
              <a:t>Binary Segmentation</a:t>
            </a:r>
            <a:r>
              <a:rPr lang="en" sz="3668">
                <a:solidFill>
                  <a:srgbClr val="434343"/>
                </a:solidFill>
                <a:highlight>
                  <a:srgbClr val="FFFFFF"/>
                </a:highlight>
              </a:rPr>
              <a:t> (2 classes: e.g., "object" and "background")</a:t>
            </a:r>
            <a:endParaRPr sz="3668">
              <a:solidFill>
                <a:srgbClr val="434343"/>
              </a:solidFill>
              <a:highlight>
                <a:srgbClr val="FFFFFF"/>
              </a:highlight>
            </a:endParaRPr>
          </a:p>
          <a:p>
            <a:pPr indent="0" lvl="0" marL="0" rtl="0" algn="l">
              <a:lnSpc>
                <a:spcPct val="135714"/>
              </a:lnSpc>
              <a:spcBef>
                <a:spcPts val="0"/>
              </a:spcBef>
              <a:spcAft>
                <a:spcPts val="0"/>
              </a:spcAft>
              <a:buClr>
                <a:schemeClr val="dk1"/>
              </a:buClr>
              <a:buSzPct val="29991"/>
              <a:buFont typeface="Arial"/>
              <a:buNone/>
            </a:pPr>
            <a:r>
              <a:rPr lang="en" sz="3668">
                <a:solidFill>
                  <a:srgbClr val="434343"/>
                </a:solidFill>
                <a:highlight>
                  <a:srgbClr val="FFFFFF"/>
                </a:highlight>
              </a:rPr>
              <a:t>    Output features (channels): 1</a:t>
            </a:r>
            <a:endParaRPr sz="3668">
              <a:solidFill>
                <a:srgbClr val="434343"/>
              </a:solidFill>
              <a:highlight>
                <a:srgbClr val="FFFFFF"/>
              </a:highlight>
            </a:endParaRPr>
          </a:p>
          <a:p>
            <a:pPr indent="0" lvl="0" marL="0" rtl="0" algn="l">
              <a:lnSpc>
                <a:spcPct val="135714"/>
              </a:lnSpc>
              <a:spcBef>
                <a:spcPts val="0"/>
              </a:spcBef>
              <a:spcAft>
                <a:spcPts val="0"/>
              </a:spcAft>
              <a:buClr>
                <a:schemeClr val="dk1"/>
              </a:buClr>
              <a:buSzPct val="29991"/>
              <a:buFont typeface="Arial"/>
              <a:buNone/>
            </a:pPr>
            <a:r>
              <a:rPr lang="en" sz="3668">
                <a:solidFill>
                  <a:srgbClr val="434343"/>
                </a:solidFill>
                <a:highlight>
                  <a:srgbClr val="FFFFFF"/>
                </a:highlight>
              </a:rPr>
              <a:t>    </a:t>
            </a:r>
            <a:r>
              <a:rPr b="1" lang="en" sz="3668">
                <a:solidFill>
                  <a:srgbClr val="434343"/>
                </a:solidFill>
                <a:highlight>
                  <a:srgbClr val="FFFFFF"/>
                </a:highlight>
              </a:rPr>
              <a:t>Activation: Sigmoid</a:t>
            </a:r>
            <a:endParaRPr b="1" sz="3668">
              <a:solidFill>
                <a:srgbClr val="434343"/>
              </a:solidFill>
              <a:highlight>
                <a:srgbClr val="FFFFFF"/>
              </a:highlight>
            </a:endParaRPr>
          </a:p>
          <a:p>
            <a:pPr indent="0" lvl="0" marL="0" rtl="0" algn="l">
              <a:lnSpc>
                <a:spcPct val="135714"/>
              </a:lnSpc>
              <a:spcBef>
                <a:spcPts val="0"/>
              </a:spcBef>
              <a:spcAft>
                <a:spcPts val="0"/>
              </a:spcAft>
              <a:buClr>
                <a:schemeClr val="dk1"/>
              </a:buClr>
              <a:buSzPct val="29991"/>
              <a:buFont typeface="Arial"/>
              <a:buNone/>
            </a:pPr>
            <a:r>
              <a:rPr lang="en" sz="3668">
                <a:solidFill>
                  <a:srgbClr val="434343"/>
                </a:solidFill>
                <a:highlight>
                  <a:srgbClr val="FFFFFF"/>
                </a:highlight>
              </a:rPr>
              <a:t>   </a:t>
            </a:r>
            <a:r>
              <a:rPr b="1" lang="en" sz="3668">
                <a:solidFill>
                  <a:srgbClr val="434343"/>
                </a:solidFill>
                <a:highlight>
                  <a:srgbClr val="FFFFFF"/>
                </a:highlight>
              </a:rPr>
              <a:t> Loss Function: Binary Cross-Entropy (BCE)</a:t>
            </a:r>
            <a:endParaRPr b="1" sz="3668">
              <a:solidFill>
                <a:srgbClr val="434343"/>
              </a:solidFill>
              <a:highlight>
                <a:srgbClr val="FFFFFF"/>
              </a:highlight>
            </a:endParaRPr>
          </a:p>
          <a:p>
            <a:pPr indent="0" lvl="0" marL="0" rtl="0" algn="l">
              <a:lnSpc>
                <a:spcPct val="135714"/>
              </a:lnSpc>
              <a:spcBef>
                <a:spcPts val="0"/>
              </a:spcBef>
              <a:spcAft>
                <a:spcPts val="0"/>
              </a:spcAft>
              <a:buClr>
                <a:schemeClr val="dk1"/>
              </a:buClr>
              <a:buSzPct val="29991"/>
              <a:buFont typeface="Arial"/>
              <a:buNone/>
            </a:pPr>
            <a:r>
              <a:rPr lang="en" sz="3668">
                <a:solidFill>
                  <a:srgbClr val="434343"/>
                </a:solidFill>
                <a:highlight>
                  <a:srgbClr val="FFFFFF"/>
                </a:highlight>
              </a:rPr>
              <a:t>    In this setup, the single output channel produces a probability map where each pixel value is a probability</a:t>
            </a:r>
            <a:endParaRPr sz="3668">
              <a:solidFill>
                <a:srgbClr val="434343"/>
              </a:solidFill>
              <a:highlight>
                <a:srgbClr val="FFFFFF"/>
              </a:highlight>
            </a:endParaRPr>
          </a:p>
          <a:p>
            <a:pPr indent="0" lvl="0" marL="0" rtl="0" algn="l">
              <a:lnSpc>
                <a:spcPct val="135714"/>
              </a:lnSpc>
              <a:spcBef>
                <a:spcPts val="0"/>
              </a:spcBef>
              <a:spcAft>
                <a:spcPts val="0"/>
              </a:spcAft>
              <a:buClr>
                <a:schemeClr val="dk1"/>
              </a:buClr>
              <a:buSzPct val="29991"/>
              <a:buFont typeface="Arial"/>
              <a:buNone/>
            </a:pPr>
            <a:r>
              <a:rPr lang="en" sz="3668">
                <a:solidFill>
                  <a:srgbClr val="434343"/>
                </a:solidFill>
                <a:highlight>
                  <a:srgbClr val="FFFFFF"/>
                </a:highlight>
              </a:rPr>
              <a:t>    between 0 and 1. A threshold (usually 0.5) is applied to this single value to assign a pixel to one of the two classes.</a:t>
            </a:r>
            <a:endParaRPr sz="3668">
              <a:solidFill>
                <a:srgbClr val="434343"/>
              </a:solidFill>
              <a:highlight>
                <a:srgbClr val="FFFFFF"/>
              </a:highlight>
            </a:endParaRPr>
          </a:p>
          <a:p>
            <a:pPr indent="0" lvl="0" marL="0" rtl="0" algn="l">
              <a:lnSpc>
                <a:spcPct val="135714"/>
              </a:lnSpc>
              <a:spcBef>
                <a:spcPts val="0"/>
              </a:spcBef>
              <a:spcAft>
                <a:spcPts val="0"/>
              </a:spcAft>
              <a:buClr>
                <a:schemeClr val="dk1"/>
              </a:buClr>
              <a:buSzPct val="29991"/>
              <a:buFont typeface="Arial"/>
              <a:buNone/>
            </a:pPr>
            <a:r>
              <a:rPr lang="en" sz="3668">
                <a:solidFill>
                  <a:srgbClr val="434343"/>
                </a:solidFill>
                <a:highlight>
                  <a:srgbClr val="FFFFFF"/>
                </a:highlight>
              </a:rPr>
              <a:t>    This is the most efficient and standard way to handle binary segmentation.</a:t>
            </a:r>
            <a:endParaRPr sz="3668">
              <a:solidFill>
                <a:srgbClr val="434343"/>
              </a:solidFill>
              <a:highlight>
                <a:srgbClr val="FFFFFF"/>
              </a:highlight>
            </a:endParaRPr>
          </a:p>
          <a:p>
            <a:pPr indent="0" lvl="0" marL="0" rtl="0" algn="l">
              <a:lnSpc>
                <a:spcPct val="135714"/>
              </a:lnSpc>
              <a:spcBef>
                <a:spcPts val="0"/>
              </a:spcBef>
              <a:spcAft>
                <a:spcPts val="0"/>
              </a:spcAft>
              <a:buClr>
                <a:schemeClr val="dk1"/>
              </a:buClr>
              <a:buSzPct val="29991"/>
              <a:buFont typeface="Arial"/>
              <a:buNone/>
            </a:pPr>
            <a:r>
              <a:t/>
            </a:r>
            <a:endParaRPr sz="3668">
              <a:solidFill>
                <a:srgbClr val="434343"/>
              </a:solidFill>
              <a:highlight>
                <a:srgbClr val="FFFFFF"/>
              </a:highlight>
            </a:endParaRPr>
          </a:p>
          <a:p>
            <a:pPr indent="0" lvl="0" marL="0" rtl="0" algn="l">
              <a:lnSpc>
                <a:spcPct val="135714"/>
              </a:lnSpc>
              <a:spcBef>
                <a:spcPts val="0"/>
              </a:spcBef>
              <a:spcAft>
                <a:spcPts val="0"/>
              </a:spcAft>
              <a:buClr>
                <a:schemeClr val="dk1"/>
              </a:buClr>
              <a:buSzPct val="29991"/>
              <a:buFont typeface="Arial"/>
              <a:buNone/>
            </a:pPr>
            <a:r>
              <a:rPr lang="en" sz="3668">
                <a:solidFill>
                  <a:srgbClr val="434343"/>
                </a:solidFill>
                <a:highlight>
                  <a:srgbClr val="FFFFFF"/>
                </a:highlight>
              </a:rPr>
              <a:t>    For Multi-Class Segmentation (&gt;2 classes: e.g., "car," "road," "sky")</a:t>
            </a:r>
            <a:endParaRPr sz="3668">
              <a:solidFill>
                <a:srgbClr val="434343"/>
              </a:solidFill>
              <a:highlight>
                <a:srgbClr val="FFFFFF"/>
              </a:highlight>
            </a:endParaRPr>
          </a:p>
          <a:p>
            <a:pPr indent="0" lvl="0" marL="0" rtl="0" algn="l">
              <a:lnSpc>
                <a:spcPct val="135714"/>
              </a:lnSpc>
              <a:spcBef>
                <a:spcPts val="0"/>
              </a:spcBef>
              <a:spcAft>
                <a:spcPts val="0"/>
              </a:spcAft>
              <a:buClr>
                <a:schemeClr val="dk1"/>
              </a:buClr>
              <a:buSzPct val="29991"/>
              <a:buFont typeface="Arial"/>
              <a:buNone/>
            </a:pPr>
            <a:r>
              <a:rPr lang="en" sz="3668">
                <a:solidFill>
                  <a:srgbClr val="434343"/>
                </a:solidFill>
                <a:highlight>
                  <a:srgbClr val="FFFFFF"/>
                </a:highlight>
              </a:rPr>
              <a:t>    Output features (channels): num_classes (e.g., 3 for the example above)</a:t>
            </a:r>
            <a:endParaRPr sz="3668">
              <a:solidFill>
                <a:srgbClr val="434343"/>
              </a:solidFill>
              <a:highlight>
                <a:srgbClr val="FFFFFF"/>
              </a:highlight>
            </a:endParaRPr>
          </a:p>
          <a:p>
            <a:pPr indent="0" lvl="0" marL="0" rtl="0" algn="l">
              <a:lnSpc>
                <a:spcPct val="135714"/>
              </a:lnSpc>
              <a:spcBef>
                <a:spcPts val="0"/>
              </a:spcBef>
              <a:spcAft>
                <a:spcPts val="0"/>
              </a:spcAft>
              <a:buClr>
                <a:schemeClr val="dk1"/>
              </a:buClr>
              <a:buSzPct val="29991"/>
              <a:buFont typeface="Arial"/>
              <a:buNone/>
            </a:pPr>
            <a:r>
              <a:rPr lang="en" sz="3668">
                <a:solidFill>
                  <a:srgbClr val="434343"/>
                </a:solidFill>
                <a:highlight>
                  <a:srgbClr val="FFFFFF"/>
                </a:highlight>
              </a:rPr>
              <a:t>    Activation: Softmax</a:t>
            </a:r>
            <a:endParaRPr sz="3668">
              <a:solidFill>
                <a:srgbClr val="434343"/>
              </a:solidFill>
              <a:highlight>
                <a:srgbClr val="FFFFFF"/>
              </a:highlight>
            </a:endParaRPr>
          </a:p>
          <a:p>
            <a:pPr indent="0" lvl="0" marL="0" rtl="0" algn="l">
              <a:lnSpc>
                <a:spcPct val="135714"/>
              </a:lnSpc>
              <a:spcBef>
                <a:spcPts val="0"/>
              </a:spcBef>
              <a:spcAft>
                <a:spcPts val="0"/>
              </a:spcAft>
              <a:buClr>
                <a:schemeClr val="dk1"/>
              </a:buClr>
              <a:buSzPct val="29991"/>
              <a:buFont typeface="Arial"/>
              <a:buNone/>
            </a:pPr>
            <a:r>
              <a:rPr lang="en" sz="3668">
                <a:solidFill>
                  <a:srgbClr val="434343"/>
                </a:solidFill>
                <a:highlight>
                  <a:srgbClr val="FFFFFF"/>
                </a:highlight>
              </a:rPr>
              <a:t>    Loss Function: Categorical Cross-Entropy (CCE)</a:t>
            </a:r>
            <a:endParaRPr sz="3668">
              <a:solidFill>
                <a:srgbClr val="434343"/>
              </a:solidFill>
              <a:highlight>
                <a:srgbClr val="FFFFFF"/>
              </a:highlight>
            </a:endParaRPr>
          </a:p>
          <a:p>
            <a:pPr indent="0" lvl="0" marL="0" rtl="0" algn="l">
              <a:lnSpc>
                <a:spcPct val="135714"/>
              </a:lnSpc>
              <a:spcBef>
                <a:spcPts val="0"/>
              </a:spcBef>
              <a:spcAft>
                <a:spcPts val="0"/>
              </a:spcAft>
              <a:buClr>
                <a:schemeClr val="dk1"/>
              </a:buClr>
              <a:buSzPct val="29991"/>
              <a:buFont typeface="Arial"/>
              <a:buNone/>
            </a:pPr>
            <a:r>
              <a:rPr lang="en" sz="3668">
                <a:solidFill>
                  <a:srgbClr val="434343"/>
                </a:solidFill>
                <a:highlight>
                  <a:srgbClr val="FFFFFF"/>
                </a:highlight>
              </a:rPr>
              <a:t>    In this scenario, each pixel in the output has a vector of probabilities (one for each class), and the softmax function ensures these probabilities sum to 1. The output channel count must equal the number of classes.</a:t>
            </a:r>
            <a:endParaRPr sz="3668">
              <a:solidFill>
                <a:srgbClr val="434343"/>
              </a:solidFill>
              <a:highlight>
                <a:srgbClr val="FFFFFF"/>
              </a:highlight>
            </a:endParaRPr>
          </a:p>
          <a:p>
            <a:pPr indent="0" lvl="0" marL="0" rtl="0" algn="l">
              <a:lnSpc>
                <a:spcPct val="135714"/>
              </a:lnSpc>
              <a:spcBef>
                <a:spcPts val="0"/>
              </a:spcBef>
              <a:spcAft>
                <a:spcPts val="0"/>
              </a:spcAft>
              <a:buClr>
                <a:schemeClr val="dk1"/>
              </a:buClr>
              <a:buSzPct val="29991"/>
              <a:buFont typeface="Arial"/>
              <a:buNone/>
            </a:pPr>
            <a:r>
              <a:t/>
            </a:r>
            <a:endParaRPr sz="3668">
              <a:solidFill>
                <a:srgbClr val="434343"/>
              </a:solidFill>
              <a:highlight>
                <a:srgbClr val="FFFFFF"/>
              </a:highlight>
            </a:endParaRPr>
          </a:p>
          <a:p>
            <a:pPr indent="0" lvl="0" marL="0" rtl="0" algn="l">
              <a:lnSpc>
                <a:spcPct val="135714"/>
              </a:lnSpc>
              <a:spcBef>
                <a:spcPts val="0"/>
              </a:spcBef>
              <a:spcAft>
                <a:spcPts val="0"/>
              </a:spcAft>
              <a:buClr>
                <a:schemeClr val="dk1"/>
              </a:buClr>
              <a:buSzPct val="29991"/>
              <a:buFont typeface="Arial"/>
              <a:buNone/>
            </a:pPr>
            <a:r>
              <a:rPr lang="en" sz="3668">
                <a:solidFill>
                  <a:srgbClr val="434343"/>
                </a:solidFill>
                <a:highlight>
                  <a:srgbClr val="FFFFFF"/>
                </a:highlight>
              </a:rPr>
              <a:t>    So, for our case of a U-Net with only 2 classes, setting the output features to 1 with a sigmoid activation is the correct and simpler approach.</a:t>
            </a:r>
            <a:endParaRPr sz="3668">
              <a:solidFill>
                <a:srgbClr val="434343"/>
              </a:solidFill>
              <a:highlight>
                <a:srgbClr val="FFFFFF"/>
              </a:highlight>
            </a:endParaRPr>
          </a:p>
          <a:p>
            <a:pPr indent="0" lvl="0" marL="0" rtl="0" algn="l">
              <a:lnSpc>
                <a:spcPct val="135714"/>
              </a:lnSpc>
              <a:spcBef>
                <a:spcPts val="0"/>
              </a:spcBef>
              <a:spcAft>
                <a:spcPts val="0"/>
              </a:spcAft>
              <a:buClr>
                <a:schemeClr val="dk1"/>
              </a:buClr>
              <a:buSzPct val="104762"/>
              <a:buFont typeface="Arial"/>
              <a:buNone/>
            </a:pPr>
            <a:r>
              <a:t/>
            </a:r>
            <a:endParaRPr sz="1050">
              <a:solidFill>
                <a:srgbClr val="434343"/>
              </a:solidFill>
              <a:highlight>
                <a:srgbClr val="FFFFFF"/>
              </a:highlight>
              <a:latin typeface="Courier New"/>
              <a:ea typeface="Courier New"/>
              <a:cs typeface="Courier New"/>
              <a:sym typeface="Courier New"/>
            </a:endParaRPr>
          </a:p>
          <a:p>
            <a:pPr indent="0" lvl="0" marL="0" rtl="0" algn="l">
              <a:spcBef>
                <a:spcPts val="0"/>
              </a:spcBef>
              <a:spcAft>
                <a:spcPts val="1200"/>
              </a:spcAft>
              <a:buNone/>
            </a:pPr>
            <a:r>
              <a:t/>
            </a:r>
            <a:endParaRPr>
              <a:solidFill>
                <a:srgbClr val="434343"/>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Loss</a:t>
            </a:r>
            <a:endParaRPr/>
          </a:p>
        </p:txBody>
      </p:sp>
      <p:sp>
        <p:nvSpPr>
          <p:cNvPr id="119" name="Google Shape;119;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20675" lvl="0" marL="457200" rtl="0" algn="l">
              <a:lnSpc>
                <a:spcPct val="150000"/>
              </a:lnSpc>
              <a:spcBef>
                <a:spcPts val="0"/>
              </a:spcBef>
              <a:spcAft>
                <a:spcPts val="0"/>
              </a:spcAft>
              <a:buSzPts val="1450"/>
              <a:buChar char="-"/>
            </a:pPr>
            <a:r>
              <a:rPr lang="en" sz="1450"/>
              <a:t>For binary image </a:t>
            </a:r>
            <a:r>
              <a:rPr lang="en" sz="1450"/>
              <a:t>segmentation, it can be more stable to use a combined loss</a:t>
            </a:r>
            <a:endParaRPr sz="1450"/>
          </a:p>
          <a:p>
            <a:pPr indent="-320675" lvl="0" marL="457200" rtl="0" algn="l">
              <a:lnSpc>
                <a:spcPct val="150000"/>
              </a:lnSpc>
              <a:spcBef>
                <a:spcPts val="0"/>
              </a:spcBef>
              <a:spcAft>
                <a:spcPts val="0"/>
              </a:spcAft>
              <a:buSzPts val="1450"/>
              <a:buChar char="-"/>
            </a:pPr>
            <a:r>
              <a:rPr lang="en" sz="1450"/>
              <a:t>Combined Loss for binary segmentation: Dice Loss + Binary Cross-Entropy Loss</a:t>
            </a:r>
            <a:endParaRPr sz="1450"/>
          </a:p>
          <a:p>
            <a:pPr indent="-320675" lvl="0" marL="457200" rtl="0" algn="l">
              <a:lnSpc>
                <a:spcPct val="150000"/>
              </a:lnSpc>
              <a:spcBef>
                <a:spcPts val="0"/>
              </a:spcBef>
              <a:spcAft>
                <a:spcPts val="0"/>
              </a:spcAft>
              <a:buSzPts val="1450"/>
              <a:buChar char="-"/>
            </a:pPr>
            <a:r>
              <a:rPr lang="en" sz="1450"/>
              <a:t>using a weighted sum of Binary Cross-Entropy (BCE) and Dice loss is a widely used and often effective approach for binary segmentation. This combined loss function is commonly referred to as Combo Loss.</a:t>
            </a:r>
            <a:endParaRPr sz="1450"/>
          </a:p>
          <a:p>
            <a:pPr indent="-320675" lvl="0" marL="457200" rtl="0" algn="l">
              <a:lnSpc>
                <a:spcPct val="150000"/>
              </a:lnSpc>
              <a:spcBef>
                <a:spcPts val="0"/>
              </a:spcBef>
              <a:spcAft>
                <a:spcPts val="0"/>
              </a:spcAft>
              <a:buSzPts val="1450"/>
              <a:buChar char="-"/>
            </a:pPr>
            <a:r>
              <a:rPr lang="en" sz="1450"/>
              <a:t>By taking a weighted sum, you leverage the benefits of both: BCE helps with general classification and stable gradients, while Dice loss ensures better overlap, especially for small or imbalanced foreground objects.</a:t>
            </a:r>
            <a:endParaRPr sz="145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Loss</a:t>
            </a:r>
            <a:endParaRPr/>
          </a:p>
        </p:txBody>
      </p:sp>
      <p:sp>
        <p:nvSpPr>
          <p:cNvPr id="125" name="Google Shape;125;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1200"/>
              </a:spcAft>
              <a:buClr>
                <a:schemeClr val="dk1"/>
              </a:buClr>
              <a:buSzPts val="275"/>
              <a:buFont typeface="Arial"/>
              <a:buNone/>
            </a:pPr>
            <a:r>
              <a:rPr lang="en" sz="1750"/>
              <a:t>  - Binary Cross-Entropy (BCE): BCE is a pixel-wise loss that is effective at penalizing incorrect classifications for every single pixel. It focuses on local accuracy but can be sensitive to class imbalance, meaning a large background area might dominate the loss, leading to poor segmentation of smaller objects.</a:t>
            </a:r>
            <a:endParaRPr sz="2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Loss</a:t>
            </a:r>
            <a:endParaRPr/>
          </a:p>
        </p:txBody>
      </p:sp>
      <p:sp>
        <p:nvSpPr>
          <p:cNvPr id="131" name="Google Shape;131;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n"/>
              <a:t> - Dice Loss: Dice loss is a region-based loss that measures the overall overlap between the predicted segmentation mask and the ground truth (the Dice coefficient). It is better at handling class imbalance because it inherently balances the contribution of foreground and background pixels by focusing on the relationship between predicted and true positive regions</a:t>
            </a:r>
            <a:endParaRPr/>
          </a:p>
          <a:p>
            <a:pPr indent="0" lvl="0" marL="0" rtl="0" algn="l">
              <a:lnSpc>
                <a:spcPct val="150000"/>
              </a:lnSpc>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137" name="Google Shape;137;p26"/>
          <p:cNvSpPr txBox="1"/>
          <p:nvPr>
            <p:ph idx="1" type="body"/>
          </p:nvPr>
        </p:nvSpPr>
        <p:spPr>
          <a:xfrm>
            <a:off x="311700" y="1152475"/>
            <a:ext cx="24894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Connect to a GPU (say T4)</a:t>
            </a:r>
            <a:endParaRPr/>
          </a:p>
          <a:p>
            <a:pPr indent="-342900" lvl="0" marL="457200" rtl="0" algn="l">
              <a:spcBef>
                <a:spcPts val="0"/>
              </a:spcBef>
              <a:spcAft>
                <a:spcPts val="0"/>
              </a:spcAft>
              <a:buSzPts val="1800"/>
              <a:buChar char="-"/>
            </a:pPr>
            <a:r>
              <a:rPr lang="en"/>
              <a:t>Drag and drop your kaggle.json file into the notebook</a:t>
            </a:r>
            <a:endParaRPr/>
          </a:p>
          <a:p>
            <a:pPr indent="-342900" lvl="0" marL="457200" rtl="0" algn="l">
              <a:spcBef>
                <a:spcPts val="0"/>
              </a:spcBef>
              <a:spcAft>
                <a:spcPts val="0"/>
              </a:spcAft>
              <a:buSzPts val="1800"/>
              <a:buChar char="-"/>
            </a:pPr>
            <a:r>
              <a:rPr lang="en"/>
              <a:t>Run the commands to </a:t>
            </a:r>
            <a:r>
              <a:rPr lang="en"/>
              <a:t>download</a:t>
            </a:r>
            <a:r>
              <a:rPr lang="en"/>
              <a:t> the dataset</a:t>
            </a:r>
            <a:endParaRPr/>
          </a:p>
        </p:txBody>
      </p:sp>
      <p:pic>
        <p:nvPicPr>
          <p:cNvPr id="138" name="Google Shape;138;p26"/>
          <p:cNvPicPr preferRelativeResize="0"/>
          <p:nvPr/>
        </p:nvPicPr>
        <p:blipFill>
          <a:blip r:embed="rId3">
            <a:alphaModFix/>
          </a:blip>
          <a:stretch>
            <a:fillRect/>
          </a:stretch>
        </p:blipFill>
        <p:spPr>
          <a:xfrm>
            <a:off x="2844546" y="1220746"/>
            <a:ext cx="6132000" cy="28589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144" name="Google Shape;144;p27"/>
          <p:cNvSpPr txBox="1"/>
          <p:nvPr>
            <p:ph idx="1" type="body"/>
          </p:nvPr>
        </p:nvSpPr>
        <p:spPr>
          <a:xfrm>
            <a:off x="311700" y="1152475"/>
            <a:ext cx="35298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Unzip dataset</a:t>
            </a:r>
            <a:endParaRPr/>
          </a:p>
          <a:p>
            <a:pPr indent="-342900" lvl="0" marL="457200" rtl="0" algn="l">
              <a:spcBef>
                <a:spcPts val="0"/>
              </a:spcBef>
              <a:spcAft>
                <a:spcPts val="0"/>
              </a:spcAft>
              <a:buSzPts val="1800"/>
              <a:buChar char="-"/>
            </a:pPr>
            <a:r>
              <a:rPr lang="en"/>
              <a:t>Setup training and validation data</a:t>
            </a:r>
            <a:endParaRPr/>
          </a:p>
        </p:txBody>
      </p:sp>
      <p:pic>
        <p:nvPicPr>
          <p:cNvPr id="145" name="Google Shape;145;p27"/>
          <p:cNvPicPr preferRelativeResize="0"/>
          <p:nvPr/>
        </p:nvPicPr>
        <p:blipFill>
          <a:blip r:embed="rId3">
            <a:alphaModFix/>
          </a:blip>
          <a:stretch>
            <a:fillRect/>
          </a:stretch>
        </p:blipFill>
        <p:spPr>
          <a:xfrm>
            <a:off x="3919179" y="851175"/>
            <a:ext cx="4990870" cy="519375"/>
          </a:xfrm>
          <a:prstGeom prst="rect">
            <a:avLst/>
          </a:prstGeom>
          <a:noFill/>
          <a:ln>
            <a:noFill/>
          </a:ln>
        </p:spPr>
      </p:pic>
      <p:pic>
        <p:nvPicPr>
          <p:cNvPr id="146" name="Google Shape;146;p27"/>
          <p:cNvPicPr preferRelativeResize="0"/>
          <p:nvPr/>
        </p:nvPicPr>
        <p:blipFill>
          <a:blip r:embed="rId4">
            <a:alphaModFix/>
          </a:blip>
          <a:stretch>
            <a:fillRect/>
          </a:stretch>
        </p:blipFill>
        <p:spPr>
          <a:xfrm>
            <a:off x="4006324" y="1580700"/>
            <a:ext cx="2028701" cy="802500"/>
          </a:xfrm>
          <a:prstGeom prst="rect">
            <a:avLst/>
          </a:prstGeom>
          <a:noFill/>
          <a:ln>
            <a:noFill/>
          </a:ln>
        </p:spPr>
      </p:pic>
      <p:pic>
        <p:nvPicPr>
          <p:cNvPr id="147" name="Google Shape;147;p27"/>
          <p:cNvPicPr preferRelativeResize="0"/>
          <p:nvPr/>
        </p:nvPicPr>
        <p:blipFill>
          <a:blip r:embed="rId5">
            <a:alphaModFix/>
          </a:blip>
          <a:stretch>
            <a:fillRect/>
          </a:stretch>
        </p:blipFill>
        <p:spPr>
          <a:xfrm>
            <a:off x="4006325" y="2383200"/>
            <a:ext cx="2760325" cy="2687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153" name="Google Shape;153;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lang="en" sz="2302"/>
              <a:t>Data Augmentation</a:t>
            </a:r>
            <a:endParaRPr sz="2302"/>
          </a:p>
          <a:p>
            <a:pPr indent="0" lvl="0" marL="0" rtl="0" algn="l">
              <a:spcBef>
                <a:spcPts val="1200"/>
              </a:spcBef>
              <a:spcAft>
                <a:spcPts val="0"/>
              </a:spcAft>
              <a:buNone/>
            </a:pPr>
            <a:r>
              <a:rPr lang="en" sz="2302"/>
              <a:t>- note this dataset is not very large so augmentations as done in the unet paper will really help increase the dataset size</a:t>
            </a:r>
            <a:endParaRPr sz="2302"/>
          </a:p>
          <a:p>
            <a:pPr indent="0" lvl="0" marL="0" rtl="0" algn="l">
              <a:spcBef>
                <a:spcPts val="1200"/>
              </a:spcBef>
              <a:spcAft>
                <a:spcPts val="0"/>
              </a:spcAft>
              <a:buNone/>
            </a:pPr>
            <a:r>
              <a:rPr lang="en" sz="2302"/>
              <a:t>- the UNet paper really signified making data augmentations to be able to train a well </a:t>
            </a:r>
            <a:r>
              <a:rPr lang="en" sz="2302"/>
              <a:t>performing</a:t>
            </a:r>
            <a:r>
              <a:rPr lang="en" sz="2302"/>
              <a:t> model using small datasets</a:t>
            </a:r>
            <a:endParaRPr sz="2302"/>
          </a:p>
          <a:p>
            <a:pPr indent="0" lvl="0" marL="0" rtl="0" algn="l">
              <a:spcBef>
                <a:spcPts val="1200"/>
              </a:spcBef>
              <a:spcAft>
                <a:spcPts val="0"/>
              </a:spcAft>
              <a:buNone/>
            </a:pPr>
            <a:r>
              <a:rPr lang="en" sz="2302" u="sng">
                <a:solidFill>
                  <a:schemeClr val="hlink"/>
                </a:solidFill>
                <a:hlinkClick r:id="rId3"/>
              </a:rPr>
              <a:t>https://albumentations.ai/docs/3-basic-usage/choosing-augmentations/</a:t>
            </a:r>
            <a:r>
              <a:rPr lang="en" sz="2302"/>
              <a:t>   </a:t>
            </a:r>
            <a:endParaRPr sz="2302"/>
          </a:p>
          <a:p>
            <a:pPr indent="-308991" lvl="0" marL="457200" rtl="0" algn="l">
              <a:spcBef>
                <a:spcPts val="1200"/>
              </a:spcBef>
              <a:spcAft>
                <a:spcPts val="0"/>
              </a:spcAft>
              <a:buSzPct val="100000"/>
              <a:buChar char="-"/>
            </a:pPr>
            <a:r>
              <a:rPr lang="en" sz="2302"/>
              <a:t>Very useful link for advice on data augmentations and how to go about using them</a:t>
            </a:r>
            <a:endParaRPr sz="2302"/>
          </a:p>
          <a:p>
            <a:pPr indent="0" lvl="0" marL="0" rtl="0" algn="l">
              <a:spcBef>
                <a:spcPts val="1200"/>
              </a:spcBef>
              <a:spcAft>
                <a:spcPts val="0"/>
              </a:spcAft>
              <a:buNone/>
            </a:pPr>
            <a:r>
              <a:rPr lang="en" sz="2302"/>
              <a:t>- note documentation recommends dropout as having </a:t>
            </a:r>
            <a:r>
              <a:rPr lang="en" sz="2302"/>
              <a:t>significant</a:t>
            </a:r>
            <a:r>
              <a:rPr lang="en" sz="2302"/>
              <a:t> impact but bc our task is image segmentation which tries to predict tumor pixels, I don’t think its a good augment bc it would set pixel values to 0 which logically seems like it will mess with the model’s learning of pixel level classification</a:t>
            </a:r>
            <a:endParaRPr sz="2302"/>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159" name="Google Shape;159;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Data Augmentation</a:t>
            </a:r>
            <a:endParaRPr/>
          </a:p>
          <a:p>
            <a:pPr indent="0" lvl="0" marL="0" rtl="0" algn="l">
              <a:spcBef>
                <a:spcPts val="1200"/>
              </a:spcBef>
              <a:spcAft>
                <a:spcPts val="0"/>
              </a:spcAft>
              <a:buNone/>
            </a:pPr>
            <a:r>
              <a:rPr lang="en" u="sng">
                <a:solidFill>
                  <a:schemeClr val="accent5"/>
                </a:solidFill>
                <a:hlinkClick r:id="rId3">
                  <a:extLst>
                    <a:ext uri="{A12FA001-AC4F-418D-AE19-62706E023703}">
                      <ahyp:hlinkClr val="tx"/>
                    </a:ext>
                  </a:extLst>
                </a:hlinkClick>
              </a:rPr>
              <a:t>https://explore.albumentations.ai/transform/ElasticTransform</a:t>
            </a:r>
            <a:r>
              <a:rPr lang="en"/>
              <a:t>   </a:t>
            </a:r>
            <a:endParaRPr/>
          </a:p>
          <a:p>
            <a:pPr indent="-342900" lvl="0" marL="457200" rtl="0" algn="l">
              <a:spcBef>
                <a:spcPts val="1200"/>
              </a:spcBef>
              <a:spcAft>
                <a:spcPts val="0"/>
              </a:spcAft>
              <a:buSzPts val="1800"/>
              <a:buChar char="-"/>
            </a:pPr>
            <a:r>
              <a:rPr lang="en"/>
              <a:t>“Data augmentation is essential to teach the network the desired invariance and robustness properties, when only few training samples are available.”</a:t>
            </a:r>
            <a:endParaRPr/>
          </a:p>
          <a:p>
            <a:pPr indent="-342900" lvl="0" marL="457200" rtl="0" algn="l">
              <a:spcBef>
                <a:spcPts val="0"/>
              </a:spcBef>
              <a:spcAft>
                <a:spcPts val="0"/>
              </a:spcAft>
              <a:buSzPts val="1800"/>
              <a:buChar char="-"/>
            </a:pPr>
            <a:r>
              <a:rPr lang="en"/>
              <a:t>The UNet paper mentions rotations, gray value variations but really signifies random elastic deformations</a:t>
            </a:r>
            <a:endParaRPr/>
          </a:p>
          <a:p>
            <a:pPr indent="-317500" lvl="1" marL="914400" rtl="0" algn="l">
              <a:spcBef>
                <a:spcPts val="0"/>
              </a:spcBef>
              <a:spcAft>
                <a:spcPts val="0"/>
              </a:spcAft>
              <a:buSzPts val="1400"/>
              <a:buChar char="-"/>
            </a:pPr>
            <a:r>
              <a:rPr lang="en"/>
              <a:t>They used gaussian distribution, variance of 10 and bicubic interpolation for the elastic transform</a:t>
            </a:r>
            <a:endParaRPr/>
          </a:p>
          <a:p>
            <a:pPr indent="-342900" lvl="0" marL="457200" rtl="0" algn="l">
              <a:spcBef>
                <a:spcPts val="0"/>
              </a:spcBef>
              <a:spcAft>
                <a:spcPts val="0"/>
              </a:spcAft>
              <a:buSzPts val="1800"/>
              <a:buChar char="-"/>
            </a:pPr>
            <a:r>
              <a:rPr lang="en"/>
              <a:t>Also they mention having a dropout layer at the end of the last downsampling block can be a data augmentation to perform too</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165" name="Google Shape;165;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Data Augmentation</a:t>
            </a:r>
            <a:endParaRPr/>
          </a:p>
        </p:txBody>
      </p:sp>
      <p:pic>
        <p:nvPicPr>
          <p:cNvPr id="166" name="Google Shape;166;p30"/>
          <p:cNvPicPr preferRelativeResize="0"/>
          <p:nvPr/>
        </p:nvPicPr>
        <p:blipFill>
          <a:blip r:embed="rId3">
            <a:alphaModFix/>
          </a:blip>
          <a:stretch>
            <a:fillRect/>
          </a:stretch>
        </p:blipFill>
        <p:spPr>
          <a:xfrm>
            <a:off x="1172550" y="1642660"/>
            <a:ext cx="6798901" cy="24360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172" name="Google Shape;172;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Data Augmentation</a:t>
            </a:r>
            <a:endParaRPr/>
          </a:p>
        </p:txBody>
      </p:sp>
      <p:pic>
        <p:nvPicPr>
          <p:cNvPr id="173" name="Google Shape;173;p31"/>
          <p:cNvPicPr preferRelativeResize="0"/>
          <p:nvPr/>
        </p:nvPicPr>
        <p:blipFill>
          <a:blip r:embed="rId3">
            <a:alphaModFix/>
          </a:blip>
          <a:stretch>
            <a:fillRect/>
          </a:stretch>
        </p:blipFill>
        <p:spPr>
          <a:xfrm>
            <a:off x="881738" y="1606748"/>
            <a:ext cx="7380525" cy="26633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179" name="Google Shape;179;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a:t>
            </a:r>
            <a:r>
              <a:rPr lang="en"/>
              <a:t>Augmentation</a:t>
            </a:r>
            <a:endParaRPr/>
          </a:p>
          <a:p>
            <a:pPr indent="-342900" lvl="0" marL="457200" rtl="0" algn="l">
              <a:spcBef>
                <a:spcPts val="1200"/>
              </a:spcBef>
              <a:spcAft>
                <a:spcPts val="0"/>
              </a:spcAft>
              <a:buSzPts val="1800"/>
              <a:buChar char="-"/>
            </a:pPr>
            <a:r>
              <a:rPr lang="en"/>
              <a:t>As recommended in the UNet paper, I added the elastic </a:t>
            </a:r>
            <a:r>
              <a:rPr lang="en"/>
              <a:t>transform</a:t>
            </a:r>
            <a:r>
              <a:rPr lang="en"/>
              <a:t> to the </a:t>
            </a:r>
            <a:r>
              <a:rPr lang="en"/>
              <a:t>augmentation</a:t>
            </a:r>
            <a:r>
              <a:rPr lang="en"/>
              <a:t> pipeline (with the same parameters used in the paper) </a:t>
            </a:r>
            <a:endParaRPr/>
          </a:p>
          <a:p>
            <a:pPr indent="-317500" lvl="1" marL="914400" rtl="0" algn="l">
              <a:spcBef>
                <a:spcPts val="0"/>
              </a:spcBef>
              <a:spcAft>
                <a:spcPts val="0"/>
              </a:spcAft>
              <a:buSzPts val="1400"/>
              <a:buChar char="-"/>
            </a:pPr>
            <a:r>
              <a:rPr lang="en"/>
              <a:t>This was an addition I made to the tutorial I built off of and individually adding did lead to slight improvements in IoU, DsC and all overall metrics (accuracy, precision, recall, F1)</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185" name="Google Shape;185;p33"/>
          <p:cNvSpPr txBox="1"/>
          <p:nvPr>
            <p:ph idx="1" type="body"/>
          </p:nvPr>
        </p:nvSpPr>
        <p:spPr>
          <a:xfrm>
            <a:off x="311700" y="1017725"/>
            <a:ext cx="1906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Perform augmentation on </a:t>
            </a:r>
            <a:r>
              <a:rPr lang="en"/>
              <a:t>data (both the images and corresponding masks)</a:t>
            </a:r>
            <a:endParaRPr/>
          </a:p>
        </p:txBody>
      </p:sp>
      <p:pic>
        <p:nvPicPr>
          <p:cNvPr id="186" name="Google Shape;186;p33"/>
          <p:cNvPicPr preferRelativeResize="0"/>
          <p:nvPr/>
        </p:nvPicPr>
        <p:blipFill>
          <a:blip r:embed="rId3">
            <a:alphaModFix/>
          </a:blip>
          <a:stretch>
            <a:fillRect/>
          </a:stretch>
        </p:blipFill>
        <p:spPr>
          <a:xfrm>
            <a:off x="2363725" y="1188275"/>
            <a:ext cx="6679176" cy="31893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192" name="Google Shape;192;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3" name="Google Shape;193;p34"/>
          <p:cNvPicPr preferRelativeResize="0"/>
          <p:nvPr/>
        </p:nvPicPr>
        <p:blipFill>
          <a:blip r:embed="rId3">
            <a:alphaModFix/>
          </a:blip>
          <a:stretch>
            <a:fillRect/>
          </a:stretch>
        </p:blipFill>
        <p:spPr>
          <a:xfrm>
            <a:off x="2431750" y="1152475"/>
            <a:ext cx="3751100" cy="35736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199" name="Google Shape;199;p35"/>
          <p:cNvSpPr txBox="1"/>
          <p:nvPr>
            <p:ph idx="1" type="body"/>
          </p:nvPr>
        </p:nvSpPr>
        <p:spPr>
          <a:xfrm>
            <a:off x="311700" y="1152475"/>
            <a:ext cx="3500400" cy="34164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SzPct val="100000"/>
              <a:buChar char="-"/>
            </a:pPr>
            <a:r>
              <a:rPr lang="en"/>
              <a:t>Define preprocessing method which will </a:t>
            </a:r>
            <a:endParaRPr/>
          </a:p>
          <a:p>
            <a:pPr indent="-310832" lvl="1" marL="914400" rtl="0" algn="l">
              <a:spcBef>
                <a:spcPts val="0"/>
              </a:spcBef>
              <a:spcAft>
                <a:spcPts val="0"/>
              </a:spcAft>
              <a:buSzPct val="100000"/>
              <a:buChar char="-"/>
            </a:pPr>
            <a:r>
              <a:rPr lang="en"/>
              <a:t>convert the images from 3 channels RGB to grayscale (1 channel)</a:t>
            </a:r>
            <a:endParaRPr/>
          </a:p>
          <a:p>
            <a:pPr indent="-310832" lvl="1" marL="914400" rtl="0" algn="l">
              <a:spcBef>
                <a:spcPts val="0"/>
              </a:spcBef>
              <a:spcAft>
                <a:spcPts val="0"/>
              </a:spcAft>
              <a:buSzPct val="100000"/>
              <a:buChar char="-"/>
            </a:pPr>
            <a:r>
              <a:rPr lang="en"/>
              <a:t>Resize the images to from 640x640 to 128x128</a:t>
            </a:r>
            <a:endParaRPr/>
          </a:p>
          <a:p>
            <a:pPr indent="-310832" lvl="1" marL="914400" rtl="0" algn="l">
              <a:spcBef>
                <a:spcPts val="0"/>
              </a:spcBef>
              <a:spcAft>
                <a:spcPts val="0"/>
              </a:spcAft>
              <a:buSzPct val="100000"/>
              <a:buChar char="-"/>
            </a:pPr>
            <a:r>
              <a:rPr lang="en"/>
              <a:t>Normalize</a:t>
            </a:r>
            <a:r>
              <a:rPr lang="en"/>
              <a:t> the pixel values (divide by 255)</a:t>
            </a:r>
            <a:endParaRPr/>
          </a:p>
          <a:p>
            <a:pPr indent="-310832" lvl="1" marL="914400" rtl="0" algn="l">
              <a:spcBef>
                <a:spcPts val="0"/>
              </a:spcBef>
              <a:spcAft>
                <a:spcPts val="0"/>
              </a:spcAft>
              <a:buSzPct val="100000"/>
              <a:buChar char="-"/>
            </a:pPr>
            <a:r>
              <a:rPr lang="en"/>
              <a:t>In mask strictly binarize the values (0 pixel value is black and 255 is white so in case any noisy values, will strictly turn values into true labels 0: non tumor and 1: tumor</a:t>
            </a:r>
            <a:endParaRPr/>
          </a:p>
          <a:p>
            <a:pPr indent="-310832" lvl="1" marL="914400" rtl="0" algn="l">
              <a:spcBef>
                <a:spcPts val="0"/>
              </a:spcBef>
              <a:spcAft>
                <a:spcPts val="0"/>
              </a:spcAft>
              <a:buSzPct val="100000"/>
              <a:buChar char="-"/>
            </a:pPr>
            <a:r>
              <a:rPr lang="en"/>
              <a:t>Add channel dimension back</a:t>
            </a:r>
            <a:endParaRPr/>
          </a:p>
        </p:txBody>
      </p:sp>
      <p:pic>
        <p:nvPicPr>
          <p:cNvPr id="200" name="Google Shape;200;p35"/>
          <p:cNvPicPr preferRelativeResize="0"/>
          <p:nvPr/>
        </p:nvPicPr>
        <p:blipFill>
          <a:blip r:embed="rId3">
            <a:alphaModFix/>
          </a:blip>
          <a:stretch>
            <a:fillRect/>
          </a:stretch>
        </p:blipFill>
        <p:spPr>
          <a:xfrm>
            <a:off x="4451051" y="973875"/>
            <a:ext cx="3860974" cy="3517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206" name="Google Shape;206;p36"/>
          <p:cNvSpPr txBox="1"/>
          <p:nvPr>
            <p:ph idx="1" type="body"/>
          </p:nvPr>
        </p:nvSpPr>
        <p:spPr>
          <a:xfrm>
            <a:off x="311700" y="1152475"/>
            <a:ext cx="2295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Data pipeline</a:t>
            </a:r>
            <a:endParaRPr/>
          </a:p>
        </p:txBody>
      </p:sp>
      <p:pic>
        <p:nvPicPr>
          <p:cNvPr id="207" name="Google Shape;207;p36"/>
          <p:cNvPicPr preferRelativeResize="0"/>
          <p:nvPr/>
        </p:nvPicPr>
        <p:blipFill>
          <a:blip r:embed="rId3">
            <a:alphaModFix/>
          </a:blip>
          <a:stretch>
            <a:fillRect/>
          </a:stretch>
        </p:blipFill>
        <p:spPr>
          <a:xfrm>
            <a:off x="2703948" y="1201050"/>
            <a:ext cx="6216424" cy="29894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213" name="Google Shape;213;p37"/>
          <p:cNvSpPr txBox="1"/>
          <p:nvPr>
            <p:ph idx="1" type="body"/>
          </p:nvPr>
        </p:nvSpPr>
        <p:spPr>
          <a:xfrm>
            <a:off x="311700" y="1152475"/>
            <a:ext cx="2538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Over next few slides is the UNet Architecture defined in build_unet</a:t>
            </a:r>
            <a:endParaRPr/>
          </a:p>
          <a:p>
            <a:pPr indent="-342900" lvl="0" marL="457200" rtl="0" algn="l">
              <a:spcBef>
                <a:spcPts val="1200"/>
              </a:spcBef>
              <a:spcAft>
                <a:spcPts val="0"/>
              </a:spcAft>
              <a:buSzPts val="1800"/>
              <a:buChar char="-"/>
            </a:pPr>
            <a:r>
              <a:rPr lang="en"/>
              <a:t>Here is the downsampling</a:t>
            </a:r>
            <a:endParaRPr/>
          </a:p>
          <a:p>
            <a:pPr indent="0" lvl="0" marL="0" rtl="0" algn="l">
              <a:spcBef>
                <a:spcPts val="1200"/>
              </a:spcBef>
              <a:spcAft>
                <a:spcPts val="1200"/>
              </a:spcAft>
              <a:buNone/>
            </a:pPr>
            <a:r>
              <a:t/>
            </a:r>
            <a:endParaRPr/>
          </a:p>
        </p:txBody>
      </p:sp>
      <p:pic>
        <p:nvPicPr>
          <p:cNvPr id="214" name="Google Shape;214;p37"/>
          <p:cNvPicPr preferRelativeResize="0"/>
          <p:nvPr/>
        </p:nvPicPr>
        <p:blipFill>
          <a:blip r:embed="rId3">
            <a:alphaModFix/>
          </a:blip>
          <a:stretch>
            <a:fillRect/>
          </a:stretch>
        </p:blipFill>
        <p:spPr>
          <a:xfrm>
            <a:off x="3131588" y="906150"/>
            <a:ext cx="2453175" cy="774675"/>
          </a:xfrm>
          <a:prstGeom prst="rect">
            <a:avLst/>
          </a:prstGeom>
          <a:noFill/>
          <a:ln>
            <a:noFill/>
          </a:ln>
        </p:spPr>
      </p:pic>
      <p:pic>
        <p:nvPicPr>
          <p:cNvPr id="215" name="Google Shape;215;p37"/>
          <p:cNvPicPr preferRelativeResize="0"/>
          <p:nvPr/>
        </p:nvPicPr>
        <p:blipFill>
          <a:blip r:embed="rId4">
            <a:alphaModFix/>
          </a:blip>
          <a:stretch>
            <a:fillRect/>
          </a:stretch>
        </p:blipFill>
        <p:spPr>
          <a:xfrm>
            <a:off x="3270725" y="1680824"/>
            <a:ext cx="6657425" cy="28880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221" name="Google Shape;221;p38"/>
          <p:cNvSpPr txBox="1"/>
          <p:nvPr>
            <p:ph idx="1" type="body"/>
          </p:nvPr>
        </p:nvSpPr>
        <p:spPr>
          <a:xfrm>
            <a:off x="311700" y="1152475"/>
            <a:ext cx="1828500" cy="3416400"/>
          </a:xfrm>
          <a:prstGeom prst="rect">
            <a:avLst/>
          </a:prstGeom>
        </p:spPr>
        <p:txBody>
          <a:bodyPr anchorCtr="0" anchor="t" bIns="91425" lIns="91425" spcFirstLastPara="1" rIns="91425" wrap="square" tIns="91425">
            <a:normAutofit fontScale="70000" lnSpcReduction="20000"/>
          </a:bodyPr>
          <a:lstStyle/>
          <a:p>
            <a:pPr indent="-308610" lvl="0" marL="457200" rtl="0" algn="l">
              <a:spcBef>
                <a:spcPts val="0"/>
              </a:spcBef>
              <a:spcAft>
                <a:spcPts val="0"/>
              </a:spcAft>
              <a:buSzPct val="100000"/>
              <a:buChar char="-"/>
            </a:pPr>
            <a:r>
              <a:rPr lang="en"/>
              <a:t>Bottleneck</a:t>
            </a:r>
            <a:endParaRPr/>
          </a:p>
          <a:p>
            <a:pPr indent="-308610" lvl="0" marL="457200" rtl="0" algn="l">
              <a:spcBef>
                <a:spcPts val="0"/>
              </a:spcBef>
              <a:spcAft>
                <a:spcPts val="0"/>
              </a:spcAft>
              <a:buSzPct val="100000"/>
              <a:buChar char="-"/>
            </a:pPr>
            <a:r>
              <a:rPr lang="en"/>
              <a:t>NOTE here I </a:t>
            </a:r>
            <a:r>
              <a:rPr lang="en"/>
              <a:t>added</a:t>
            </a:r>
            <a:r>
              <a:rPr lang="en"/>
              <a:t> a Dropout layer after the last downsampling block as suggested in the last sentence of the data </a:t>
            </a:r>
            <a:r>
              <a:rPr lang="en"/>
              <a:t>augmentation</a:t>
            </a:r>
            <a:r>
              <a:rPr lang="en"/>
              <a:t> section of the UNet paper and this addition alone increased IOU and DCS accuracy</a:t>
            </a:r>
            <a:endParaRPr/>
          </a:p>
        </p:txBody>
      </p:sp>
      <p:pic>
        <p:nvPicPr>
          <p:cNvPr id="222" name="Google Shape;222;p38"/>
          <p:cNvPicPr preferRelativeResize="0"/>
          <p:nvPr/>
        </p:nvPicPr>
        <p:blipFill>
          <a:blip r:embed="rId3">
            <a:alphaModFix/>
          </a:blip>
          <a:stretch>
            <a:fillRect/>
          </a:stretch>
        </p:blipFill>
        <p:spPr>
          <a:xfrm>
            <a:off x="2256850" y="1381650"/>
            <a:ext cx="6575450" cy="15114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228" name="Google Shape;228;p39"/>
          <p:cNvSpPr txBox="1"/>
          <p:nvPr>
            <p:ph idx="1" type="body"/>
          </p:nvPr>
        </p:nvSpPr>
        <p:spPr>
          <a:xfrm>
            <a:off x="311700" y="1152475"/>
            <a:ext cx="279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Upsampling</a:t>
            </a:r>
            <a:endParaRPr/>
          </a:p>
          <a:p>
            <a:pPr indent="-342900" lvl="0" marL="457200" rtl="0" algn="l">
              <a:spcBef>
                <a:spcPts val="0"/>
              </a:spcBef>
              <a:spcAft>
                <a:spcPts val="0"/>
              </a:spcAft>
              <a:buSzPts val="1800"/>
              <a:buChar char="-"/>
            </a:pPr>
            <a:r>
              <a:rPr lang="en"/>
              <a:t>An interesting aspect to note is that unet concatenates the corresponding output from the downsampling (output of the 2nd conv,relu pair) to the output of the </a:t>
            </a:r>
            <a:r>
              <a:rPr lang="en"/>
              <a:t>corresponding</a:t>
            </a:r>
            <a:r>
              <a:rPr lang="en"/>
              <a:t> upsampling output</a:t>
            </a:r>
            <a:endParaRPr/>
          </a:p>
        </p:txBody>
      </p:sp>
      <p:pic>
        <p:nvPicPr>
          <p:cNvPr id="229" name="Google Shape;229;p39"/>
          <p:cNvPicPr preferRelativeResize="0"/>
          <p:nvPr/>
        </p:nvPicPr>
        <p:blipFill>
          <a:blip r:embed="rId3">
            <a:alphaModFix/>
          </a:blip>
          <a:stretch>
            <a:fillRect/>
          </a:stretch>
        </p:blipFill>
        <p:spPr>
          <a:xfrm>
            <a:off x="3617575" y="1500675"/>
            <a:ext cx="5130776" cy="27986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235" name="Google Shape;235;p40"/>
          <p:cNvSpPr txBox="1"/>
          <p:nvPr>
            <p:ph idx="1" type="body"/>
          </p:nvPr>
        </p:nvSpPr>
        <p:spPr>
          <a:xfrm>
            <a:off x="311700" y="1152475"/>
            <a:ext cx="3228000" cy="3416400"/>
          </a:xfrm>
          <a:prstGeom prst="rect">
            <a:avLst/>
          </a:prstGeom>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SzPct val="100000"/>
              <a:buChar char="-"/>
            </a:pPr>
            <a:r>
              <a:rPr lang="en"/>
              <a:t>1x1 conv</a:t>
            </a:r>
            <a:endParaRPr/>
          </a:p>
          <a:p>
            <a:pPr indent="-325755" lvl="0" marL="457200" rtl="0" algn="l">
              <a:spcBef>
                <a:spcPts val="0"/>
              </a:spcBef>
              <a:spcAft>
                <a:spcPts val="0"/>
              </a:spcAft>
              <a:buSzPct val="100000"/>
              <a:buChar char="-"/>
            </a:pPr>
            <a:r>
              <a:rPr lang="en"/>
              <a:t>Note as explained in beginning of </a:t>
            </a:r>
            <a:r>
              <a:rPr lang="en"/>
              <a:t>slides</a:t>
            </a:r>
            <a:r>
              <a:rPr lang="en"/>
              <a:t>, our task is binary </a:t>
            </a:r>
            <a:r>
              <a:rPr lang="en"/>
              <a:t>segmentation</a:t>
            </a:r>
            <a:r>
              <a:rPr lang="en"/>
              <a:t> so we use sigmoid </a:t>
            </a:r>
            <a:r>
              <a:rPr lang="en"/>
              <a:t>activation</a:t>
            </a:r>
            <a:r>
              <a:rPr lang="en"/>
              <a:t> (sigmoid is used in binary </a:t>
            </a:r>
            <a:r>
              <a:rPr lang="en"/>
              <a:t>classification</a:t>
            </a:r>
            <a:r>
              <a:rPr lang="en"/>
              <a:t> </a:t>
            </a:r>
            <a:r>
              <a:rPr lang="en"/>
              <a:t>situations</a:t>
            </a:r>
            <a:r>
              <a:rPr lang="en"/>
              <a:t> as its range is [0,1] so </a:t>
            </a:r>
            <a:r>
              <a:rPr lang="en"/>
              <a:t>classification</a:t>
            </a:r>
            <a:r>
              <a:rPr lang="en"/>
              <a:t> can simply be based off whether &gt;= 0.5)</a:t>
            </a:r>
            <a:endParaRPr/>
          </a:p>
          <a:p>
            <a:pPr indent="-304165" lvl="1" marL="914400" rtl="0" algn="l">
              <a:spcBef>
                <a:spcPts val="0"/>
              </a:spcBef>
              <a:spcAft>
                <a:spcPts val="0"/>
              </a:spcAft>
              <a:buSzPct val="100000"/>
              <a:buChar char="-"/>
            </a:pPr>
            <a:r>
              <a:rPr lang="en"/>
              <a:t>And the output feature is just 1</a:t>
            </a:r>
            <a:endParaRPr/>
          </a:p>
          <a:p>
            <a:pPr indent="-304165" lvl="1" marL="914400" rtl="0" algn="l">
              <a:spcBef>
                <a:spcPts val="0"/>
              </a:spcBef>
              <a:spcAft>
                <a:spcPts val="0"/>
              </a:spcAft>
              <a:buSzPct val="100000"/>
              <a:buChar char="-"/>
            </a:pPr>
            <a:r>
              <a:rPr lang="en"/>
              <a:t>In multi class segmentaiton, the out_features would be the # of classes to </a:t>
            </a:r>
            <a:r>
              <a:rPr lang="en"/>
              <a:t>predict</a:t>
            </a:r>
            <a:r>
              <a:rPr lang="en"/>
              <a:t> from </a:t>
            </a:r>
            <a:endParaRPr/>
          </a:p>
        </p:txBody>
      </p:sp>
      <p:pic>
        <p:nvPicPr>
          <p:cNvPr id="236" name="Google Shape;236;p40"/>
          <p:cNvPicPr preferRelativeResize="0"/>
          <p:nvPr/>
        </p:nvPicPr>
        <p:blipFill>
          <a:blip r:embed="rId3">
            <a:alphaModFix/>
          </a:blip>
          <a:stretch>
            <a:fillRect/>
          </a:stretch>
        </p:blipFill>
        <p:spPr>
          <a:xfrm>
            <a:off x="3719400" y="1390938"/>
            <a:ext cx="5029200" cy="9620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242" name="Google Shape;242;p41"/>
          <p:cNvSpPr txBox="1"/>
          <p:nvPr>
            <p:ph idx="1" type="body"/>
          </p:nvPr>
        </p:nvSpPr>
        <p:spPr>
          <a:xfrm>
            <a:off x="311700" y="1152475"/>
            <a:ext cx="2402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Metric measurements for our model as we train it</a:t>
            </a:r>
            <a:endParaRPr/>
          </a:p>
        </p:txBody>
      </p:sp>
      <p:pic>
        <p:nvPicPr>
          <p:cNvPr id="243" name="Google Shape;243;p41"/>
          <p:cNvPicPr preferRelativeResize="0"/>
          <p:nvPr/>
        </p:nvPicPr>
        <p:blipFill>
          <a:blip r:embed="rId3">
            <a:alphaModFix/>
          </a:blip>
          <a:stretch>
            <a:fillRect/>
          </a:stretch>
        </p:blipFill>
        <p:spPr>
          <a:xfrm>
            <a:off x="2917747" y="1443175"/>
            <a:ext cx="5838925" cy="28350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249" name="Google Shape;249;p42"/>
          <p:cNvSpPr txBox="1"/>
          <p:nvPr>
            <p:ph idx="1" type="body"/>
          </p:nvPr>
        </p:nvSpPr>
        <p:spPr>
          <a:xfrm>
            <a:off x="311700" y="1152475"/>
            <a:ext cx="28392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Loss</a:t>
            </a:r>
            <a:endParaRPr/>
          </a:p>
          <a:p>
            <a:pPr indent="-342900" lvl="0" marL="457200" rtl="0" algn="l">
              <a:spcBef>
                <a:spcPts val="0"/>
              </a:spcBef>
              <a:spcAft>
                <a:spcPts val="0"/>
              </a:spcAft>
              <a:buSzPts val="1800"/>
              <a:buChar char="-"/>
            </a:pPr>
            <a:r>
              <a:rPr lang="en"/>
              <a:t>As explained in </a:t>
            </a:r>
            <a:r>
              <a:rPr lang="en"/>
              <a:t>beginning</a:t>
            </a:r>
            <a:r>
              <a:rPr lang="en"/>
              <a:t> of slides, a combined loss of BCE and dice can help control learning for binary </a:t>
            </a:r>
            <a:r>
              <a:rPr lang="en"/>
              <a:t>segmentation</a:t>
            </a:r>
            <a:endParaRPr/>
          </a:p>
        </p:txBody>
      </p:sp>
      <p:pic>
        <p:nvPicPr>
          <p:cNvPr id="250" name="Google Shape;250;p42"/>
          <p:cNvPicPr preferRelativeResize="0"/>
          <p:nvPr/>
        </p:nvPicPr>
        <p:blipFill>
          <a:blip r:embed="rId3">
            <a:alphaModFix/>
          </a:blip>
          <a:stretch>
            <a:fillRect/>
          </a:stretch>
        </p:blipFill>
        <p:spPr>
          <a:xfrm>
            <a:off x="3560888" y="1517288"/>
            <a:ext cx="5210175" cy="9620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256" name="Google Shape;256;p43"/>
          <p:cNvSpPr txBox="1"/>
          <p:nvPr>
            <p:ph idx="1" type="body"/>
          </p:nvPr>
        </p:nvSpPr>
        <p:spPr>
          <a:xfrm>
            <a:off x="311700" y="1152475"/>
            <a:ext cx="1935300" cy="34164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SzPct val="100000"/>
              <a:buChar char="-"/>
            </a:pPr>
            <a:r>
              <a:rPr lang="en"/>
              <a:t>Adam optimizer with LR=0.0001</a:t>
            </a:r>
            <a:endParaRPr/>
          </a:p>
          <a:p>
            <a:pPr indent="-334328" lvl="0" marL="457200" rtl="0" algn="l">
              <a:spcBef>
                <a:spcPts val="0"/>
              </a:spcBef>
              <a:spcAft>
                <a:spcPts val="0"/>
              </a:spcAft>
              <a:buSzPct val="100000"/>
              <a:buChar char="-"/>
            </a:pPr>
            <a:r>
              <a:rPr lang="en"/>
              <a:t>Create the model object containing the unet architecture</a:t>
            </a:r>
            <a:endParaRPr/>
          </a:p>
          <a:p>
            <a:pPr indent="-334328" lvl="0" marL="457200" rtl="0" algn="l">
              <a:spcBef>
                <a:spcPts val="0"/>
              </a:spcBef>
              <a:spcAft>
                <a:spcPts val="0"/>
              </a:spcAft>
              <a:buSzPct val="100000"/>
              <a:buChar char="-"/>
            </a:pPr>
            <a:r>
              <a:rPr lang="en"/>
              <a:t>And store the optimizer, loss and metrics in the obejct</a:t>
            </a:r>
            <a:endParaRPr/>
          </a:p>
        </p:txBody>
      </p:sp>
      <p:pic>
        <p:nvPicPr>
          <p:cNvPr id="257" name="Google Shape;257;p43"/>
          <p:cNvPicPr preferRelativeResize="0"/>
          <p:nvPr/>
        </p:nvPicPr>
        <p:blipFill>
          <a:blip r:embed="rId3">
            <a:alphaModFix/>
          </a:blip>
          <a:stretch>
            <a:fillRect/>
          </a:stretch>
        </p:blipFill>
        <p:spPr>
          <a:xfrm>
            <a:off x="2450550" y="1449621"/>
            <a:ext cx="6381749" cy="11808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263" name="Google Shape;263;p44"/>
          <p:cNvSpPr txBox="1"/>
          <p:nvPr>
            <p:ph idx="1" type="body"/>
          </p:nvPr>
        </p:nvSpPr>
        <p:spPr>
          <a:xfrm>
            <a:off x="311700" y="1152475"/>
            <a:ext cx="2479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Run training and validation data through our data_generator pipeline (does preprocessing, etc.)</a:t>
            </a:r>
            <a:endParaRPr/>
          </a:p>
        </p:txBody>
      </p:sp>
      <p:pic>
        <p:nvPicPr>
          <p:cNvPr id="264" name="Google Shape;264;p44"/>
          <p:cNvPicPr preferRelativeResize="0"/>
          <p:nvPr/>
        </p:nvPicPr>
        <p:blipFill>
          <a:blip r:embed="rId3">
            <a:alphaModFix/>
          </a:blip>
          <a:stretch>
            <a:fillRect/>
          </a:stretch>
        </p:blipFill>
        <p:spPr>
          <a:xfrm>
            <a:off x="2990076" y="1479300"/>
            <a:ext cx="5581574" cy="10182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270" name="Google Shape;270;p45"/>
          <p:cNvSpPr txBox="1"/>
          <p:nvPr>
            <p:ph idx="1" type="body"/>
          </p:nvPr>
        </p:nvSpPr>
        <p:spPr>
          <a:xfrm>
            <a:off x="311700" y="1152475"/>
            <a:ext cx="3208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Additional</a:t>
            </a:r>
            <a:r>
              <a:rPr lang="en"/>
              <a:t> optimization for our model’s training </a:t>
            </a:r>
            <a:endParaRPr/>
          </a:p>
        </p:txBody>
      </p:sp>
      <p:pic>
        <p:nvPicPr>
          <p:cNvPr id="271" name="Google Shape;271;p45"/>
          <p:cNvPicPr preferRelativeResize="0"/>
          <p:nvPr/>
        </p:nvPicPr>
        <p:blipFill>
          <a:blip r:embed="rId3">
            <a:alphaModFix/>
          </a:blip>
          <a:stretch>
            <a:fillRect/>
          </a:stretch>
        </p:blipFill>
        <p:spPr>
          <a:xfrm>
            <a:off x="3672900" y="1170125"/>
            <a:ext cx="5318700" cy="250715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277" name="Google Shape;277;p46"/>
          <p:cNvSpPr txBox="1"/>
          <p:nvPr>
            <p:ph idx="1" type="body"/>
          </p:nvPr>
        </p:nvSpPr>
        <p:spPr>
          <a:xfrm>
            <a:off x="311700" y="1152475"/>
            <a:ext cx="3655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Training</a:t>
            </a:r>
            <a:endParaRPr/>
          </a:p>
          <a:p>
            <a:pPr indent="-342900" lvl="0" marL="457200" rtl="0" algn="l">
              <a:spcBef>
                <a:spcPts val="1200"/>
              </a:spcBef>
              <a:spcAft>
                <a:spcPts val="0"/>
              </a:spcAft>
              <a:buSzPts val="1800"/>
              <a:buChar char="-"/>
            </a:pPr>
            <a:r>
              <a:rPr lang="en"/>
              <a:t>40 epochs</a:t>
            </a:r>
            <a:endParaRPr/>
          </a:p>
          <a:p>
            <a:pPr indent="-342900" lvl="0" marL="457200" rtl="0" algn="l">
              <a:spcBef>
                <a:spcPts val="0"/>
              </a:spcBef>
              <a:spcAft>
                <a:spcPts val="0"/>
              </a:spcAft>
              <a:buSzPts val="1800"/>
              <a:buChar char="-"/>
            </a:pPr>
            <a:r>
              <a:rPr lang="en"/>
              <a:t>On T4 GPU, took about 30 mins</a:t>
            </a:r>
            <a:endParaRPr/>
          </a:p>
        </p:txBody>
      </p:sp>
      <p:pic>
        <p:nvPicPr>
          <p:cNvPr id="278" name="Google Shape;278;p46"/>
          <p:cNvPicPr preferRelativeResize="0"/>
          <p:nvPr/>
        </p:nvPicPr>
        <p:blipFill>
          <a:blip r:embed="rId3">
            <a:alphaModFix/>
          </a:blip>
          <a:stretch>
            <a:fillRect/>
          </a:stretch>
        </p:blipFill>
        <p:spPr>
          <a:xfrm>
            <a:off x="4732225" y="1257575"/>
            <a:ext cx="4048125" cy="20193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284" name="Google Shape;284;p47"/>
          <p:cNvSpPr txBox="1"/>
          <p:nvPr>
            <p:ph idx="1" type="body"/>
          </p:nvPr>
        </p:nvSpPr>
        <p:spPr>
          <a:xfrm>
            <a:off x="311700" y="1152475"/>
            <a:ext cx="2994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Load test data</a:t>
            </a:r>
            <a:endParaRPr/>
          </a:p>
        </p:txBody>
      </p:sp>
      <p:pic>
        <p:nvPicPr>
          <p:cNvPr id="285" name="Google Shape;285;p47"/>
          <p:cNvPicPr preferRelativeResize="0"/>
          <p:nvPr/>
        </p:nvPicPr>
        <p:blipFill>
          <a:blip r:embed="rId3">
            <a:alphaModFix/>
          </a:blip>
          <a:stretch>
            <a:fillRect/>
          </a:stretch>
        </p:blipFill>
        <p:spPr>
          <a:xfrm>
            <a:off x="3306600" y="1152475"/>
            <a:ext cx="5532600" cy="162940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291" name="Google Shape;291;p48"/>
          <p:cNvSpPr txBox="1"/>
          <p:nvPr>
            <p:ph idx="1" type="body"/>
          </p:nvPr>
        </p:nvSpPr>
        <p:spPr>
          <a:xfrm>
            <a:off x="311700" y="1152475"/>
            <a:ext cx="3558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Perform binary image </a:t>
            </a:r>
            <a:r>
              <a:rPr lang="en"/>
              <a:t>segmentation</a:t>
            </a:r>
            <a:r>
              <a:rPr lang="en"/>
              <a:t> on the test data using the trained model and then create confusion matrix</a:t>
            </a:r>
            <a:endParaRPr/>
          </a:p>
        </p:txBody>
      </p:sp>
      <p:pic>
        <p:nvPicPr>
          <p:cNvPr id="292" name="Google Shape;292;p48"/>
          <p:cNvPicPr preferRelativeResize="0"/>
          <p:nvPr/>
        </p:nvPicPr>
        <p:blipFill>
          <a:blip r:embed="rId3">
            <a:alphaModFix/>
          </a:blip>
          <a:stretch>
            <a:fillRect/>
          </a:stretch>
        </p:blipFill>
        <p:spPr>
          <a:xfrm>
            <a:off x="3820647" y="1017725"/>
            <a:ext cx="5209828" cy="32955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298" name="Google Shape;298;p49"/>
          <p:cNvSpPr txBox="1"/>
          <p:nvPr>
            <p:ph idx="1" type="body"/>
          </p:nvPr>
        </p:nvSpPr>
        <p:spPr>
          <a:xfrm>
            <a:off x="311700" y="1152475"/>
            <a:ext cx="2761500" cy="34164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en"/>
              <a:t>My Confusion Matrix with my changes</a:t>
            </a:r>
            <a:endParaRPr/>
          </a:p>
          <a:p>
            <a:pPr indent="-325755" lvl="0" marL="457200" rtl="0" algn="l">
              <a:spcBef>
                <a:spcPts val="1200"/>
              </a:spcBef>
              <a:spcAft>
                <a:spcPts val="0"/>
              </a:spcAft>
              <a:buSzPct val="100000"/>
              <a:buChar char="-"/>
            </a:pPr>
            <a:r>
              <a:rPr lang="en"/>
              <a:t>Added dropout layer after last downsampling block</a:t>
            </a:r>
            <a:endParaRPr/>
          </a:p>
          <a:p>
            <a:pPr indent="-325755" lvl="0" marL="457200" rtl="0" algn="l">
              <a:spcBef>
                <a:spcPts val="0"/>
              </a:spcBef>
              <a:spcAft>
                <a:spcPts val="0"/>
              </a:spcAft>
              <a:buSzPct val="100000"/>
              <a:buChar char="-"/>
            </a:pPr>
            <a:r>
              <a:rPr lang="en"/>
              <a:t>Added ElasticTransform to data augmentation</a:t>
            </a:r>
            <a:endParaRPr/>
          </a:p>
          <a:p>
            <a:pPr indent="-325755" lvl="0" marL="457200" rtl="0" algn="l">
              <a:spcBef>
                <a:spcPts val="0"/>
              </a:spcBef>
              <a:spcAft>
                <a:spcPts val="0"/>
              </a:spcAft>
              <a:buSzPct val="100000"/>
              <a:buChar char="-"/>
            </a:pPr>
            <a:r>
              <a:rPr lang="en"/>
              <a:t>Both were </a:t>
            </a:r>
            <a:r>
              <a:rPr lang="en"/>
              <a:t>suggestions</a:t>
            </a:r>
            <a:r>
              <a:rPr lang="en"/>
              <a:t> made in the UNet paper that were not done in the tutorial I built off of</a:t>
            </a:r>
            <a:endParaRPr/>
          </a:p>
        </p:txBody>
      </p:sp>
      <p:pic>
        <p:nvPicPr>
          <p:cNvPr id="299" name="Google Shape;299;p49"/>
          <p:cNvPicPr preferRelativeResize="0"/>
          <p:nvPr/>
        </p:nvPicPr>
        <p:blipFill>
          <a:blip r:embed="rId3">
            <a:alphaModFix/>
          </a:blip>
          <a:stretch>
            <a:fillRect/>
          </a:stretch>
        </p:blipFill>
        <p:spPr>
          <a:xfrm>
            <a:off x="3711100" y="1262725"/>
            <a:ext cx="4008601" cy="31958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305" name="Google Shape;305;p50"/>
          <p:cNvSpPr txBox="1"/>
          <p:nvPr>
            <p:ph idx="1" type="body"/>
          </p:nvPr>
        </p:nvSpPr>
        <p:spPr>
          <a:xfrm>
            <a:off x="311700" y="1152475"/>
            <a:ext cx="35100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This is the confusion matrix from the original </a:t>
            </a:r>
            <a:r>
              <a:rPr lang="en"/>
              <a:t>tutorial</a:t>
            </a:r>
            <a:r>
              <a:rPr lang="en"/>
              <a:t> i followed</a:t>
            </a:r>
            <a:endParaRPr/>
          </a:p>
          <a:p>
            <a:pPr indent="-342900" lvl="0" marL="457200" rtl="0" algn="l">
              <a:spcBef>
                <a:spcPts val="0"/>
              </a:spcBef>
              <a:spcAft>
                <a:spcPts val="0"/>
              </a:spcAft>
              <a:buSzPts val="1800"/>
              <a:buChar char="-"/>
            </a:pPr>
            <a:r>
              <a:rPr lang="en"/>
              <a:t>M</a:t>
            </a:r>
            <a:r>
              <a:rPr lang="en"/>
              <a:t>y confusion matrix (previous slide) is overall better showing I improved the model</a:t>
            </a:r>
            <a:endParaRPr/>
          </a:p>
          <a:p>
            <a:pPr indent="-317500" lvl="1" marL="914400" rtl="0" algn="l">
              <a:spcBef>
                <a:spcPts val="0"/>
              </a:spcBef>
              <a:spcAft>
                <a:spcPts val="0"/>
              </a:spcAft>
              <a:buSzPts val="1400"/>
              <a:buChar char="-"/>
            </a:pPr>
            <a:r>
              <a:rPr lang="en"/>
              <a:t>I have more True positive and True negatives</a:t>
            </a:r>
            <a:endParaRPr/>
          </a:p>
          <a:p>
            <a:pPr indent="-317500" lvl="1" marL="914400" rtl="0" algn="l">
              <a:spcBef>
                <a:spcPts val="0"/>
              </a:spcBef>
              <a:spcAft>
                <a:spcPts val="0"/>
              </a:spcAft>
              <a:buSzPts val="1400"/>
              <a:buChar char="-"/>
            </a:pPr>
            <a:r>
              <a:rPr lang="en"/>
              <a:t>And I have less false positives and false negatives</a:t>
            </a:r>
            <a:endParaRPr/>
          </a:p>
        </p:txBody>
      </p:sp>
      <p:pic>
        <p:nvPicPr>
          <p:cNvPr id="306" name="Google Shape;306;p50"/>
          <p:cNvPicPr preferRelativeResize="0"/>
          <p:nvPr/>
        </p:nvPicPr>
        <p:blipFill>
          <a:blip r:embed="rId3">
            <a:alphaModFix/>
          </a:blip>
          <a:stretch>
            <a:fillRect/>
          </a:stretch>
        </p:blipFill>
        <p:spPr>
          <a:xfrm>
            <a:off x="3879974" y="1330175"/>
            <a:ext cx="4209401" cy="30357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312" name="Google Shape;312;p51"/>
          <p:cNvSpPr txBox="1"/>
          <p:nvPr>
            <p:ph idx="1" type="body"/>
          </p:nvPr>
        </p:nvSpPr>
        <p:spPr>
          <a:xfrm>
            <a:off x="311700" y="1152475"/>
            <a:ext cx="2907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Metrics</a:t>
            </a:r>
            <a:endParaRPr/>
          </a:p>
        </p:txBody>
      </p:sp>
      <p:pic>
        <p:nvPicPr>
          <p:cNvPr id="313" name="Google Shape;313;p51"/>
          <p:cNvPicPr preferRelativeResize="0"/>
          <p:nvPr/>
        </p:nvPicPr>
        <p:blipFill>
          <a:blip r:embed="rId3">
            <a:alphaModFix/>
          </a:blip>
          <a:stretch>
            <a:fillRect/>
          </a:stretch>
        </p:blipFill>
        <p:spPr>
          <a:xfrm>
            <a:off x="4493025" y="79724"/>
            <a:ext cx="3853300" cy="3536949"/>
          </a:xfrm>
          <a:prstGeom prst="rect">
            <a:avLst/>
          </a:prstGeom>
          <a:noFill/>
          <a:ln>
            <a:noFill/>
          </a:ln>
        </p:spPr>
      </p:pic>
      <p:pic>
        <p:nvPicPr>
          <p:cNvPr id="314" name="Google Shape;314;p51"/>
          <p:cNvPicPr preferRelativeResize="0"/>
          <p:nvPr/>
        </p:nvPicPr>
        <p:blipFill>
          <a:blip r:embed="rId4">
            <a:alphaModFix/>
          </a:blip>
          <a:stretch>
            <a:fillRect/>
          </a:stretch>
        </p:blipFill>
        <p:spPr>
          <a:xfrm>
            <a:off x="4493025" y="3616673"/>
            <a:ext cx="4671338" cy="115400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320" name="Google Shape;320;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21" name="Google Shape;321;p52"/>
          <p:cNvPicPr preferRelativeResize="0"/>
          <p:nvPr/>
        </p:nvPicPr>
        <p:blipFill>
          <a:blip r:embed="rId3">
            <a:alphaModFix/>
          </a:blip>
          <a:stretch>
            <a:fillRect/>
          </a:stretch>
        </p:blipFill>
        <p:spPr>
          <a:xfrm>
            <a:off x="-12" y="1152463"/>
            <a:ext cx="4638675" cy="3362325"/>
          </a:xfrm>
          <a:prstGeom prst="rect">
            <a:avLst/>
          </a:prstGeom>
          <a:noFill/>
          <a:ln>
            <a:noFill/>
          </a:ln>
        </p:spPr>
      </p:pic>
      <p:pic>
        <p:nvPicPr>
          <p:cNvPr id="322" name="Google Shape;322;p52"/>
          <p:cNvPicPr preferRelativeResize="0"/>
          <p:nvPr/>
        </p:nvPicPr>
        <p:blipFill>
          <a:blip r:embed="rId4">
            <a:alphaModFix/>
          </a:blip>
          <a:stretch>
            <a:fillRect/>
          </a:stretch>
        </p:blipFill>
        <p:spPr>
          <a:xfrm>
            <a:off x="4476750" y="1152463"/>
            <a:ext cx="4667250" cy="32861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328" name="Google Shape;328;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 </a:t>
            </a:r>
            <a:r>
              <a:rPr lang="en"/>
              <a:t>previous</a:t>
            </a:r>
            <a:r>
              <a:rPr lang="en"/>
              <a:t> slide </a:t>
            </a:r>
            <a:r>
              <a:rPr lang="en" u="sng"/>
              <a:t>current stats</a:t>
            </a:r>
            <a:r>
              <a:rPr lang="en"/>
              <a:t> were the metrics for c</a:t>
            </a:r>
            <a:r>
              <a:rPr lang="en" u="sng"/>
              <a:t>hanges I made to the model (left pic)</a:t>
            </a:r>
            <a:endParaRPr u="sng"/>
          </a:p>
          <a:p>
            <a:pPr indent="-342900" lvl="0" marL="457200" rtl="0" algn="l">
              <a:spcBef>
                <a:spcPts val="0"/>
              </a:spcBef>
              <a:spcAft>
                <a:spcPts val="0"/>
              </a:spcAft>
              <a:buSzPts val="1800"/>
              <a:buChar char="-"/>
            </a:pPr>
            <a:r>
              <a:rPr lang="en" u="sng"/>
              <a:t>Former stats</a:t>
            </a:r>
            <a:r>
              <a:rPr lang="en"/>
              <a:t> were the metrics for the confusion matrix of </a:t>
            </a:r>
            <a:r>
              <a:rPr lang="en" u="sng"/>
              <a:t>the original tutorial</a:t>
            </a:r>
            <a:r>
              <a:rPr lang="en"/>
              <a:t> that I ran (no changes to the tutorial) , (right pic)</a:t>
            </a:r>
            <a:endParaRPr/>
          </a:p>
          <a:p>
            <a:pPr indent="-342900" lvl="0" marL="457200" rtl="0" algn="l">
              <a:spcBef>
                <a:spcPts val="0"/>
              </a:spcBef>
              <a:spcAft>
                <a:spcPts val="0"/>
              </a:spcAft>
              <a:buSzPts val="1800"/>
              <a:buChar char="-"/>
            </a:pPr>
            <a:r>
              <a:rPr lang="en"/>
              <a:t>These stats are from running the trained model on TEST data</a:t>
            </a:r>
            <a:endParaRPr/>
          </a:p>
          <a:p>
            <a:pPr indent="-342900" lvl="0" marL="457200" rtl="0" algn="l">
              <a:spcBef>
                <a:spcPts val="0"/>
              </a:spcBef>
              <a:spcAft>
                <a:spcPts val="0"/>
              </a:spcAft>
              <a:buSzPts val="1800"/>
              <a:buChar char="-"/>
            </a:pPr>
            <a:r>
              <a:rPr lang="en"/>
              <a:t>I performed the set of metrics on both label 1 (tumor) and label 0 (no tumor)</a:t>
            </a:r>
            <a:endParaRPr/>
          </a:p>
          <a:p>
            <a:pPr indent="-342900" lvl="0" marL="457200" rtl="0" algn="l">
              <a:spcBef>
                <a:spcPts val="0"/>
              </a:spcBef>
              <a:spcAft>
                <a:spcPts val="0"/>
              </a:spcAft>
              <a:buSzPts val="1800"/>
              <a:buChar char="-"/>
            </a:pPr>
            <a:r>
              <a:rPr lang="en"/>
              <a:t>Can clearly see increased IOU and DSC and just overall every metric is improved slightly with my changes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WalkThrough</a:t>
            </a:r>
            <a:endParaRPr/>
          </a:p>
        </p:txBody>
      </p:sp>
      <p:sp>
        <p:nvSpPr>
          <p:cNvPr id="334" name="Google Shape;334;p54"/>
          <p:cNvSpPr txBox="1"/>
          <p:nvPr>
            <p:ph idx="1" type="body"/>
          </p:nvPr>
        </p:nvSpPr>
        <p:spPr>
          <a:xfrm>
            <a:off x="311700" y="1152475"/>
            <a:ext cx="3130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Print test samples predicted and ground truth masks</a:t>
            </a:r>
            <a:endParaRPr/>
          </a:p>
        </p:txBody>
      </p:sp>
      <p:pic>
        <p:nvPicPr>
          <p:cNvPr id="335" name="Google Shape;335;p54"/>
          <p:cNvPicPr preferRelativeResize="0"/>
          <p:nvPr/>
        </p:nvPicPr>
        <p:blipFill>
          <a:blip r:embed="rId3">
            <a:alphaModFix/>
          </a:blip>
          <a:stretch>
            <a:fillRect/>
          </a:stretch>
        </p:blipFill>
        <p:spPr>
          <a:xfrm>
            <a:off x="4395875" y="1057738"/>
            <a:ext cx="3833624" cy="360587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41" name="Google Shape;341;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42" name="Google Shape;342;p55"/>
          <p:cNvPicPr preferRelativeResize="0"/>
          <p:nvPr/>
        </p:nvPicPr>
        <p:blipFill>
          <a:blip r:embed="rId3">
            <a:alphaModFix/>
          </a:blip>
          <a:stretch>
            <a:fillRect/>
          </a:stretch>
        </p:blipFill>
        <p:spPr>
          <a:xfrm>
            <a:off x="778825" y="1398563"/>
            <a:ext cx="8053474" cy="23463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48" name="Google Shape;348;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49" name="Google Shape;349;p56"/>
          <p:cNvPicPr preferRelativeResize="0"/>
          <p:nvPr/>
        </p:nvPicPr>
        <p:blipFill>
          <a:blip r:embed="rId3">
            <a:alphaModFix/>
          </a:blip>
          <a:stretch>
            <a:fillRect/>
          </a:stretch>
        </p:blipFill>
        <p:spPr>
          <a:xfrm>
            <a:off x="418950" y="1017725"/>
            <a:ext cx="8161324" cy="33679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